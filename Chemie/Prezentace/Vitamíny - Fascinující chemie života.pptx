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-18"/>
      <p:regular r:id="rId15"/>
      <p:bold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layfair Display" panose="00000500000000000000" pitchFamily="2" charset="-18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DFE783-4FF1-4ECF-91BB-501D1C0E22DB}">
  <a:tblStyle styleId="{B8DFE783-4FF1-4ECF-91BB-501D1C0E22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Vitamíny jsou nízkomolekulární organické látky. Klíčové slovo je </a:t>
            </a:r>
            <a:r>
              <a:rPr lang="cs-CZ" b="1" dirty="0"/>
              <a:t>esenciální</a:t>
            </a:r>
            <a:r>
              <a:rPr lang="cs-CZ" dirty="0"/>
              <a:t> – to znamená, že naše tělo si je, až na malé výjimky, neumí vyrobit a musíme je přijímat potravou. Celkem jich uznáváme 13. V biochemii fungují hlavně jako prekurzory koenzymů (pomáhají enzymům v reakcích), jako antioxidanty chránící buňky nebo dokonce jako regulátory čtení našich genů.</a:t>
            </a: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Základní dělení vychází z chemické polarity molekul. </a:t>
            </a:r>
            <a:r>
              <a:rPr lang="cs-CZ" b="1" dirty="0"/>
              <a:t>Lipofilní</a:t>
            </a:r>
            <a:r>
              <a:rPr lang="cs-CZ" dirty="0"/>
              <a:t> vitamíny (A, D, E, K) jsou nepolární, rozpouštějí se v tucích a tělo si je dokáže ukládat do zásob v játrech. Naproti tomu </a:t>
            </a:r>
            <a:r>
              <a:rPr lang="cs-CZ" b="1" dirty="0"/>
              <a:t>hydrofilní</a:t>
            </a:r>
            <a:r>
              <a:rPr lang="cs-CZ" dirty="0"/>
              <a:t> vitamíny (C a celá skupina B) jsou polární, v těle se neukládají a jejich nadbytek prostě vyloučíme ledvinami. Proto je musíme doplňovat prakticky denně.</a:t>
            </a:r>
            <a:endParaRPr dirty="0"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Z chemického hlediska jsou tyto látky velmi různorodé. Například vitamín A (retinol) je polyen, vitamín D patří mezi </a:t>
            </a:r>
            <a:r>
              <a:rPr lang="cs-CZ" dirty="0" err="1"/>
              <a:t>sekosteroidy</a:t>
            </a:r>
            <a:r>
              <a:rPr lang="cs-CZ" dirty="0"/>
              <a:t> – což jsou látky odvozené od steroidů, ale s otevřeným kruhem v molekule. Vitamín E jsou pak tokoferoly, které mají dlouhý </a:t>
            </a:r>
            <a:r>
              <a:rPr lang="cs-CZ" dirty="0" err="1"/>
              <a:t>izoprenoidní</a:t>
            </a:r>
            <a:r>
              <a:rPr lang="cs-CZ" dirty="0"/>
              <a:t> řetězec, díky kterému se skvěle kotví v buněčných membránách.</a:t>
            </a:r>
            <a:endParaRPr dirty="0"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Tohle je jeden z nejúžasnějších procesů v biochemii. Vitamín A, konkrétně ve formě </a:t>
            </a:r>
            <a:r>
              <a:rPr lang="cs-CZ" b="1" dirty="0"/>
              <a:t>11-cis-retinalu</a:t>
            </a:r>
            <a:r>
              <a:rPr lang="cs-CZ" dirty="0"/>
              <a:t>, je navázán na bílkovinu opsin v našem oku. Když na něj dopadne foton světla, dojde k okamžité </a:t>
            </a:r>
            <a:r>
              <a:rPr lang="cs-CZ" dirty="0" err="1"/>
              <a:t>fotoizomerizaci</a:t>
            </a:r>
            <a:r>
              <a:rPr lang="cs-CZ" dirty="0"/>
              <a:t> na </a:t>
            </a:r>
            <a:r>
              <a:rPr lang="cs-CZ" b="1" dirty="0" err="1"/>
              <a:t>all</a:t>
            </a:r>
            <a:r>
              <a:rPr lang="cs-CZ" b="1" dirty="0"/>
              <a:t>-trans-</a:t>
            </a:r>
            <a:r>
              <a:rPr lang="cs-CZ" b="1" dirty="0" err="1"/>
              <a:t>retinal</a:t>
            </a:r>
            <a:r>
              <a:rPr lang="cs-CZ" dirty="0"/>
              <a:t>. Tato změna tvaru molekuly spustí kaskádu signálů, kterou náš mozek vyhodnotí jako obraz. Bez vitamínu A tento proces selhává, což vede k šerosleposti.</a:t>
            </a:r>
            <a:endParaRPr dirty="0"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Vitamín C, neboli kyselina L-askorbová, je strukturně velmi podobná glukóze. Je to silné redukční činidlo. V těle funguje jako 'hasič' volných radikálů – agresivních molekul, které by jinak poškodily naši DNA. Je zajímavé, že většina zvířat si ho umí vyrobit z cukru, ale my lidé jsme tuto schopnost evolucí ztratili.</a:t>
            </a:r>
            <a:endParaRPr dirty="0"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Proč je vitamín C tak důležitý pro naše dásně a klouby? Je to kofaktor pro enzymy, které provádějí </a:t>
            </a:r>
            <a:r>
              <a:rPr lang="cs-CZ" b="1" dirty="0"/>
              <a:t>hydroxylaci</a:t>
            </a:r>
            <a:r>
              <a:rPr lang="cs-CZ" dirty="0"/>
              <a:t> aminokyselin prolinu a lysinu v kolagenu. Díky tomu vznikají mezi vlákny kolagenu pevné vazby a tvoří se stabilní </a:t>
            </a:r>
            <a:r>
              <a:rPr lang="cs-CZ" dirty="0" err="1"/>
              <a:t>trojšroubovice</a:t>
            </a:r>
            <a:r>
              <a:rPr lang="cs-CZ" dirty="0"/>
              <a:t>. Bez 'céčka' je kolagen slabý, tkáně se rozpadají a vzniká nemoc kurděje.</a:t>
            </a:r>
            <a:endParaRPr dirty="0"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Vitamíny skupiny B jsou v podstatě 'pomocníci' při získávání energie. B1 (</a:t>
            </a:r>
            <a:r>
              <a:rPr lang="cs-CZ" dirty="0" err="1"/>
              <a:t>thiamin</a:t>
            </a:r>
            <a:r>
              <a:rPr lang="cs-CZ" dirty="0"/>
              <a:t>) je kritický pro metabolismus cukrů, B2 (riboflavin) je součástí známých flavoproteinů v dýchacím řetězci a B3 (niacin) je základem pro NAD+, což je nejdůležitější přenašeč elektronů v buňce. Bez nich by se naše metabolické procesy zastavily.</a:t>
            </a:r>
            <a:endParaRPr dirty="0"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Chceme ukázat, jaký je rozdíl v komplexitě. Zatímco vitamín C je malá molekula, vitamín B12 (kobalamin) je obrovský </a:t>
            </a:r>
            <a:r>
              <a:rPr lang="cs-CZ" dirty="0" err="1"/>
              <a:t>makrocyklus</a:t>
            </a:r>
            <a:r>
              <a:rPr lang="cs-CZ" dirty="0"/>
              <a:t>. Má uprostřed iont kobaltu, což je v lidské biochemii unikátní. Je to jediný vitamín, který obsahuje kovový prvek, a jeho syntéza v přírodě je tak složitá, že ji zvládají jen určité bakterie.</a:t>
            </a:r>
            <a:endParaRPr dirty="0"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Zde vidíte shrnutí. Důležité je si uvědomit, že název 'vitamín' neoznačuje chemickou třídu, ale funkční roli. Každý z nich má unikátní strukturu odvozenou od úplně jiných chemických základů, ale všechny spojuje to, že bez nich náš metabolismus zkolabuje.</a:t>
            </a:r>
            <a:endParaRPr dirty="0"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ll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uc-powerpoint.officeapps.live.com/pods/ppt.aspx?ui=cs&amp;rs=cs-CZ&amp;wdorigin=AuthRedirect.SEARCHENGINE.GOOGLE,APPHOME-WEB.BANNER.UPLOAD&amp;wdprevioussession=0a6aaabb-40eb-40f4-8eba-0a2cc631ca72&amp;wdprevioussessionsrc=AppHomeWeb&amp;wdenableroaming=1&amp;mscc=1&amp;wdodb=1&amp;hid=556112A2-0008-1001-3DF2-5393FBA86F1A.0&amp;uih=sharepointcom&amp;wdlcid=cs&amp;jsapi=1&amp;jsapiver=v2&amp;corrid=e40a6d50-1317-3bb7-95f6-de8f1d9cdea1&amp;usid=e40a6d50-1317-3bb7-95f6-de8f1d9cdea1&amp;newsession=1&amp;sftc=1&amp;uihit=docaspx&amp;muv=1&amp;ats=PairwiseBroker&amp;dchat=1&amp;sc=%7B%22pmo%22%3A%22https%3A%2F%2Fvosaspseplzen-my.sharepoint.com%22%2C%22pmshare%22%3Atrue%7D&amp;wdhostclicktime=1778450451601&amp;afdflight=85&amp;wdpodsurl=https%3A%2F%2Feuc-powerpoint.officeapps.live.com%2Fpods%2F&amp;wdpopsurl=https%3A%2F%2Feuc-powerpoint.officeapps.live.com%2F&amp;wdoverrides=devicepixelratio:1,RenderGifSlideShow:true&amp;wdwaccluster=GEU8&amp;waccluster=GEU8&amp;filename=Chemie%20Vitam%C3%ADn%C5%AF.pptx&amp;filegeturlbool=true&amp;fs=1511088&amp;ro=false&amp;fastboot=true&amp;noauth=1&amp;thpanel=929&amp;sw=1628&amp;sh=876&amp;postmessagetoken=e40a6d50-1317-3bb7-95f6-de8f1d9cdea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810625" y="6096000"/>
            <a:ext cx="2809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Tomáš Podpleský, Martin Škarda | 3.M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73174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DF5E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Vitamíny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6044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Chemická podstata a esenciální funkce v organismu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 JSOU TO VITAMÍNY?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2506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13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449067"/>
            <a:ext cx="52387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1F3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Esenciálních látek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293831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Nízkomolekulární organické látky: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Nezbytné pro život, které si tělo nedokáže samo syntetizovat.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354791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Klíčové funkce: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394796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Prekurzory koenzymů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425276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Silné buněčné antioxidanty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381750" y="455756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Regulátory genové transkripce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0003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3051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60995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100"/>
            <a:ext cx="53816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24100"/>
            <a:ext cx="538162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DĚLENÍ PODLE ROZPUSTNOSTI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7432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52500" y="3314700"/>
            <a:ext cx="48506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Lipofilní vitamíny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733800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Rozpustné v tucích. Nepolární molekuly (polyeny, izoprenoidy).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27432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619875" y="3314700"/>
            <a:ext cx="48506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Hydrofilní vitamíny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19875" y="3733800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Rozpustné ve vodě. Vysoce polární molekuly (OH, COOH skupiny).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7725" y="4486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52500" y="44862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Ukládají se do zásob (játra, tuk).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7725" y="4791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47910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Vitamíny: A, D, E, K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15100" y="4486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19875" y="44862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Vylučovány močí, nelze je skladovat.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15100" y="4791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19875" y="47910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Vitamíny: C a B-komplex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7937"/>
            <a:ext cx="3492549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47937"/>
            <a:ext cx="3492549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47937"/>
            <a:ext cx="3492549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STRUKTURA LIPOFILNÍCH VITAMÍNŮ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9670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52500" y="3538537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Vitamín A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3957637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Retinol: Diterpenický polyenový alkohol s konjugovanými vazbami.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9670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730799" y="3538537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Vitamín D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730799" y="3957637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Kalciferoly: Sekosteroidy (otevřený B-kruh steroidního jádra).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9670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509099" y="3538537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Vitamín 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509099" y="3957637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Tokoferoly: Deriváty chromanu s izoprenoidním řetězcem.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42454"/>
            <a:ext cx="5238750" cy="4715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54623"/>
            <a:ext cx="523875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VITAMÍN A: MECHANISMUS VIDĚNÍ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294977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Retinol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podléhá oxidaci na </a:t>
            </a: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retinal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 Primární děj vidění je založen na: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4302323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Tato fotoizomerizace v tyčinkách a čípcích spouští nervový vzruch. Oxidací dále vzniká kyselina retinová (hormon).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0" y="1637704"/>
            <a:ext cx="5048250" cy="4487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3802260"/>
            <a:ext cx="2316658" cy="16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22649"/>
            <a:ext cx="5238750" cy="255552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VITAMÍN C: KRÁL ANTIOXIDANTŮ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278591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Kyselina L-askorbová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je strukturně příbuzná monosacharidům. Jedná se o lakton s enediolovou strukturou.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370031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Hlavní role:</a:t>
            </a:r>
            <a:endParaRPr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2717899"/>
            <a:ext cx="5048250" cy="232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466725" y="410036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410036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Excelentní lapač volných radikálů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66725" y="440516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440516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Redukční činidlo v metabolismu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6725" y="470996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470996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Nezbytný kofaktor pro vznik kolagenu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KLÍČOVÁ FUNKCE: SYNTÉZA KOLAGENU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050827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4384327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Šroubovice (Triple Helix)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81750" y="305261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Vitamín C se účastní </a:t>
            </a: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hydroxylace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aminokyselin prolinu a lysinu.</a:t>
            </a:r>
            <a:endParaRPr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852713"/>
            <a:ext cx="52387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7937"/>
            <a:ext cx="3492549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47937"/>
            <a:ext cx="3492549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47937"/>
            <a:ext cx="3492549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B-KOMPLEX: MOTORY METABOLISMU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52500" y="3538537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B1 (Thiamin)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52500" y="3957637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Pyrimidinový a thiazolový kruh. Dekarboxylace a přenos aldehydů.</a:t>
            </a:r>
            <a:endParaRPr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9670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730799" y="3538537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B2 (Riboflavin)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730799" y="3957637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Žlutý pigment. Derivát isoalloxazinu. Součást FMN a FAD.</a:t>
            </a:r>
            <a:endParaRPr/>
          </a:p>
        </p:txBody>
      </p:sp>
      <p:pic>
        <p:nvPicPr>
          <p:cNvPr id="204" name="Google Shape;20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9670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509099" y="3538537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F3F"/>
                </a:solidFill>
                <a:latin typeface="Inter"/>
                <a:ea typeface="Inter"/>
                <a:cs typeface="Inter"/>
                <a:sym typeface="Inter"/>
              </a:rPr>
              <a:t>B3 (Niacin)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509099" y="3957637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Kyselina nikotinová. Stavební kámen redoxních koenzymů NAD+.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762000" y="1419225"/>
            <a:ext cx="480060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EXTRÉMNÍ ROZMANITOST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62000" y="29241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Vitamíny netvoří jednotnou chemickou skupinu. Rozptyl složitosti je fascinující: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48291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B12 je největší a nejsložitější molekula mezi vitamíny.</a:t>
            </a:r>
            <a:endParaRPr/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1666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657225" y="3724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62000" y="37242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Jednoduché kyseliny: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Vitamín C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57225" y="4029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40290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Makrocyklické komplexy: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Vitamín B12 (Kobalamin) s centrálním iontem kobaltu .</a:t>
            </a:r>
            <a:endParaRPr/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2800" y="4419600"/>
            <a:ext cx="222349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rázek 1" descr="image.png">
            <a:extLst>
              <a:ext uri="{FF2B5EF4-FFF2-40B4-BE49-F238E27FC236}">
                <a16:creationId xmlns:a16="http://schemas.microsoft.com/office/drawing/2014/main" id="{BF453E7D-589A-26F6-DE11-EA2D968AA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722" y="855406"/>
            <a:ext cx="4575278" cy="514718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SROVNÁVACÍ ANALÝZA VITAMÍNŮ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71500" y="2524125"/>
            <a:ext cx="11049000" cy="27527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571500" y="2524125"/>
          <a:ext cx="11049000" cy="2752750"/>
        </p:xfrm>
        <a:graphic>
          <a:graphicData uri="http://schemas.openxmlformats.org/drawingml/2006/table">
            <a:tbl>
              <a:tblPr firstRow="1" bandRow="1">
                <a:noFill/>
                <a:tableStyleId>{B8DFE783-4FF1-4ECF-91BB-501D1C0E22DB}</a:tableStyleId>
              </a:tblPr>
              <a:tblGrid>
                <a:gridCol w="163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Vitamín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Chemický název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Rozpustnost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Klíčová biochemická funkce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Retinol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Lipofilní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Fotoizomerizace retinalu, vize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K. L-askorbová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Hydrofilní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Hydroxylace AA, antioxidant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Tokoferol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Lipofilní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Ochrana lipidových membrán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Kobalamin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Hydrofilní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Methylace a metabolismus DNA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0" name="Google Shape;230;p22"/>
          <p:cNvSpPr/>
          <p:nvPr/>
        </p:nvSpPr>
        <p:spPr>
          <a:xfrm>
            <a:off x="571500" y="3633787"/>
            <a:ext cx="1630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201614" y="3633787"/>
            <a:ext cx="2618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819650" y="3633787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009655" y="3633787"/>
            <a:ext cx="4610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4176712"/>
            <a:ext cx="1630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201614" y="4176712"/>
            <a:ext cx="2618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819650" y="4176712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009655" y="4176712"/>
            <a:ext cx="4610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71500" y="4719637"/>
            <a:ext cx="1630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2201614" y="4719637"/>
            <a:ext cx="2618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819650" y="4719637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009655" y="4719637"/>
            <a:ext cx="4610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5262562"/>
            <a:ext cx="1630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201614" y="5262562"/>
            <a:ext cx="2618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819650" y="5262562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7009655" y="5262562"/>
            <a:ext cx="4610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26085"/>
            <a:ext cx="110490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295275" y="1969740"/>
            <a:ext cx="1160145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Závěr a dotazy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571500" y="31794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Děkujeme Vám za pozornost.</a:t>
            </a:r>
            <a:endParaRPr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8812" y="4316610"/>
            <a:ext cx="7143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10239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1F3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POUŽITÉ ZDROJE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7;p22">
            <a:extLst>
              <a:ext uri="{FF2B5EF4-FFF2-40B4-BE49-F238E27FC236}">
                <a16:creationId xmlns:a16="http://schemas.microsoft.com/office/drawing/2014/main" id="{D3086824-AA1E-6C38-6D86-468B8A6AAC7B}"/>
              </a:ext>
            </a:extLst>
          </p:cNvPr>
          <p:cNvSpPr txBox="1"/>
          <p:nvPr/>
        </p:nvSpPr>
        <p:spPr>
          <a:xfrm>
            <a:off x="2712357" y="1814073"/>
            <a:ext cx="6758216" cy="3914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i="1" dirty="0" err="1">
                <a:solidFill>
                  <a:schemeClr val="tx1"/>
                </a:solidFill>
              </a:rPr>
              <a:t>Retinol_structure.svg</a:t>
            </a:r>
            <a:r>
              <a:rPr lang="en-US" sz="2400" dirty="0">
                <a:solidFill>
                  <a:schemeClr val="tx1"/>
                </a:solidFill>
              </a:rPr>
              <a:t> [online]. New World Encyclopedia. [cit. 2026-05-11]. </a:t>
            </a:r>
            <a:r>
              <a:rPr lang="en-US" sz="2400" dirty="0" err="1">
                <a:solidFill>
                  <a:schemeClr val="tx1"/>
                </a:solidFill>
              </a:rPr>
              <a:t>Dostupné</a:t>
            </a:r>
            <a:r>
              <a:rPr lang="en-US" sz="2400" dirty="0">
                <a:solidFill>
                  <a:schemeClr val="tx1"/>
                </a:solidFill>
              </a:rPr>
              <a:t> z: </a:t>
            </a:r>
            <a:r>
              <a:rPr lang="en-US" sz="24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https://www.newworldencyclopedia.org/entry/File:Retinol_structure.svg</a:t>
            </a:r>
            <a:endParaRPr lang="en-US" dirty="0">
              <a:solidFill>
                <a:schemeClr val="tx1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i="1" dirty="0">
                <a:solidFill>
                  <a:schemeClr val="tx1"/>
                </a:solidFill>
              </a:rPr>
              <a:t>L-</a:t>
            </a:r>
            <a:r>
              <a:rPr lang="en-US" sz="2400" i="1" dirty="0" err="1">
                <a:solidFill>
                  <a:schemeClr val="tx1"/>
                </a:solidFill>
              </a:rPr>
              <a:t>Ascorbic_acid.svg</a:t>
            </a:r>
            <a:r>
              <a:rPr lang="en-US" sz="2400" dirty="0">
                <a:solidFill>
                  <a:schemeClr val="tx1"/>
                </a:solidFill>
              </a:rPr>
              <a:t> [online]. Wikipedia, the free encyclopedia. [cit. 2026-05-11]. </a:t>
            </a:r>
            <a:r>
              <a:rPr lang="en-US" sz="2400" dirty="0" err="1">
                <a:solidFill>
                  <a:schemeClr val="tx1"/>
                </a:solidFill>
              </a:rPr>
              <a:t>Dostupné</a:t>
            </a:r>
            <a:r>
              <a:rPr lang="en-US" sz="2400" dirty="0">
                <a:solidFill>
                  <a:schemeClr val="tx1"/>
                </a:solidFill>
              </a:rPr>
              <a:t> z: </a:t>
            </a:r>
            <a:r>
              <a:rPr lang="en-US" sz="24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https://en.wikipedia.org/wiki/Vitamin_C#/media/File:L-Ascorbic_acid.svg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bg1"/>
              </a:solidFill>
              <a:latin typeface="DM Sans"/>
            </a:endParaRP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Microsoft Office PowerPoint</Application>
  <PresentationFormat>Širokoúhlá obrazovka</PresentationFormat>
  <Paragraphs>97</Paragraphs>
  <Slides>12</Slides>
  <Notes>12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9" baseType="lpstr">
      <vt:lpstr>Calibri</vt:lpstr>
      <vt:lpstr>DM Sans</vt:lpstr>
      <vt:lpstr>Arial</vt:lpstr>
      <vt:lpstr>Inter SemiBold</vt:lpstr>
      <vt:lpstr>Playfair Display</vt:lpstr>
      <vt:lpstr>Inter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Tomaš Podpleský</dc:creator>
  <cp:lastModifiedBy>Podpleský Tomáš</cp:lastModifiedBy>
  <cp:revision>1</cp:revision>
  <dcterms:modified xsi:type="dcterms:W3CDTF">2026-05-10T23:24:55Z</dcterms:modified>
</cp:coreProperties>
</file>