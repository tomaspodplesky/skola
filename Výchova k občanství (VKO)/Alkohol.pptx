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0" r:id="rId3"/>
    <p:sldId id="257" r:id="rId4"/>
    <p:sldId id="269" r:id="rId5"/>
    <p:sldId id="258" r:id="rId6"/>
    <p:sldId id="260" r:id="rId7"/>
    <p:sldId id="259" r:id="rId8"/>
    <p:sldId id="266" r:id="rId9"/>
    <p:sldId id="261" r:id="rId10"/>
    <p:sldId id="262" r:id="rId11"/>
    <p:sldId id="272" r:id="rId12"/>
    <p:sldId id="263" r:id="rId13"/>
    <p:sldId id="264" r:id="rId14"/>
    <p:sldId id="265" r:id="rId15"/>
    <p:sldId id="267" r:id="rId16"/>
    <p:sldId id="268" r:id="rId17"/>
    <p:sldId id="271" r:id="rId18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117E657-9DEE-596F-772F-9D9D70EBB2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69909349-573F-42E0-0097-0107D5C7A4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4EAF1A6B-0BBC-6CB1-68B4-B067A12CC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FC212-A243-489C-B1D4-1A4035322114}" type="datetimeFigureOut">
              <a:rPr lang="cs-CZ" smtClean="0"/>
              <a:t>15.01.2025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000F2A71-C705-5C3A-3C70-9E16A9A49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8D4E0B47-493D-B3A0-465A-95F4147BC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55D92-EF23-44E1-9AE5-8F8D809DB74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445853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F7CD39B-63E3-DD9E-10CA-7821DF434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BDB2090-EA16-FC1B-A9B6-4A8A05DAE7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DA06F744-F8C4-15A9-6C13-7108F6880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FC212-A243-489C-B1D4-1A4035322114}" type="datetimeFigureOut">
              <a:rPr lang="cs-CZ" smtClean="0"/>
              <a:t>15.01.2025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FDA51572-A701-075F-16D3-DDE28BDA7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D6610D31-71D5-C7C7-58B5-137DDEEDE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55D92-EF23-44E1-9AE5-8F8D809DB74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537415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E2B89A2-9315-DB40-492A-8DA30A279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2BBC6CBD-9EF0-62D8-ADFA-307D11E7C8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94ECCB20-5E4A-0AF8-5E14-FD85FC397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FC212-A243-489C-B1D4-1A4035322114}" type="datetimeFigureOut">
              <a:rPr lang="cs-CZ" smtClean="0"/>
              <a:t>15.01.2025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B0E847EA-9401-99A0-53D6-007D95C9B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2CD41E35-B1DA-E214-A515-855BD2C17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55D92-EF23-44E1-9AE5-8F8D809DB74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742821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90F8434-CA12-27F3-B139-D8F362C21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D23CBBD-CA69-1E8F-88FF-2FA459948D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8276AFA0-86C2-E2A9-BC00-276B944D0A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5D6B54CB-44B0-AB9F-BA68-33ED3CFE4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FC212-A243-489C-B1D4-1A4035322114}" type="datetimeFigureOut">
              <a:rPr lang="cs-CZ" smtClean="0"/>
              <a:t>15.01.2025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17D8A468-3D5D-741B-F9B3-3CD0EC973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0086AC03-D1E7-3A42-9293-F8524BCE3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55D92-EF23-44E1-9AE5-8F8D809DB74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137471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56ADB2E-15AB-AAE9-86F3-6345C1EB3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E639831E-6FEF-CFD5-EC33-B5242B4F70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2F0AD749-6883-25E4-6D29-4124503F50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1EA4FDC4-E0D9-FF75-083E-BDE3AA9836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95AA4B76-B5FE-2F4E-1665-3F90307B6C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F844A7DE-1980-BDBB-667D-FD09D50B8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FC212-A243-489C-B1D4-1A4035322114}" type="datetimeFigureOut">
              <a:rPr lang="cs-CZ" smtClean="0"/>
              <a:t>15.01.2025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22917503-C1DB-FEF9-E87F-8B05A0916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C1AB0F44-6DF7-1D8E-7B5B-10C8925F8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55D92-EF23-44E1-9AE5-8F8D809DB74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14068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ADEFD2A-3EE8-90D6-B313-B9D5ABC32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8DC0E02C-B5BB-A086-6570-F1F908E21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FC212-A243-489C-B1D4-1A4035322114}" type="datetimeFigureOut">
              <a:rPr lang="cs-CZ" smtClean="0"/>
              <a:t>15.01.2025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DC45E172-47DB-B800-962D-95B79F920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27048F62-DCA1-5289-3142-0A6A839A7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55D92-EF23-44E1-9AE5-8F8D809DB74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73735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FACB9698-0DC4-F7D9-D7C7-939D89E10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FC212-A243-489C-B1D4-1A4035322114}" type="datetimeFigureOut">
              <a:rPr lang="cs-CZ" smtClean="0"/>
              <a:t>15.01.2025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540F87DB-254C-BEBD-1FEA-50633921A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421D8407-CA8B-6A43-8264-2DB00DF78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55D92-EF23-44E1-9AE5-8F8D809DB74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387697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631AB95-A38C-F5C5-4254-198DB3026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43E6177-7592-EB04-9A3F-363FE81CE2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06C4BC5B-AD28-33E2-56D7-C5245E1201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FCC87A26-1611-9F1B-CDB5-DF54E6711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FC212-A243-489C-B1D4-1A4035322114}" type="datetimeFigureOut">
              <a:rPr lang="cs-CZ" smtClean="0"/>
              <a:t>15.01.2025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499AA05F-D128-8B05-23DD-7A461F4A7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E0854964-B6C1-09C6-568D-426218239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55D92-EF23-44E1-9AE5-8F8D809DB74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8239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2ECECEF-338C-E020-61EF-0A4B36942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F44E8BB1-36D6-1BB8-D116-F2F8EA5A2E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B8460545-9F42-41EA-0D36-E9A10A5F35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50133B74-8321-4069-25AC-E600E4D28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FC212-A243-489C-B1D4-1A4035322114}" type="datetimeFigureOut">
              <a:rPr lang="cs-CZ" smtClean="0"/>
              <a:t>15.01.2025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3A230F20-ACEA-89A8-F488-E1212CEE1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5BA5BDBC-175B-F4C4-5FF1-2BEEA0EB6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55D92-EF23-44E1-9AE5-8F8D809DB74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46661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FC6494A-BDE6-7BAE-0BFE-F7DADDA33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3FE2D97C-CE15-29F3-424B-32E591C741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6A0F9D35-2411-F097-7EEE-E1712F73A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FC212-A243-489C-B1D4-1A4035322114}" type="datetimeFigureOut">
              <a:rPr lang="cs-CZ" smtClean="0"/>
              <a:t>15.01.2025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E781C013-7CEA-E45A-B5BF-47F699700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49176863-A295-817F-38F0-F12056B96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55D92-EF23-44E1-9AE5-8F8D809DB74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994472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5805A78A-FED5-2E74-8E2A-91EAFDF082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0D35CB90-7BA8-7C4E-35A2-E23DC91995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B38BF99B-8CA5-21B6-87D4-C78BA9EED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FC212-A243-489C-B1D4-1A4035322114}" type="datetimeFigureOut">
              <a:rPr lang="cs-CZ" smtClean="0"/>
              <a:t>15.01.2025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4427604D-597E-7369-FF83-A1E4BD249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26DFF20D-AB57-7951-539A-535C0F723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55D92-EF23-44E1-9AE5-8F8D809DB74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71951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070917B8-1755-A4FE-FC52-FEF1DE204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837F0FB7-BB29-D98B-EF3B-CC3159C23B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6DA0CED4-8FBC-5F41-0770-541FEE521B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FFC212-A243-489C-B1D4-1A4035322114}" type="datetimeFigureOut">
              <a:rPr lang="cs-CZ" smtClean="0"/>
              <a:t>15.01.2025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0A75AF91-B711-BB4D-77C2-13A78A0CA7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C3D1C85D-05B7-AF7D-EB73-02624CBE0B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555D92-EF23-44E1-9AE5-8F8D809DB74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8436358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s://svatby.net/wp-content/uploads/2021/02/Alkohol-na-svatbu.jpg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hyperlink" Target="https://d39-a.sdn.cz/d_39/c_img_QN_x/aONM7/pivo.jpeg?fl=cro,0,159,6000,3375%7Cres,1200,,1%7Cjpg,80,,1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hyperlink" Target="https://upload.wikimedia.org/wikipedia/commons/thumb/5/59/Brewery-nogne-o.jpg/400px-Brewery-nogne-o.jpg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hyperlink" Target="https://www.mabo.sk/blog/wp-content/uploads/2015/12/Palenka-titulka.png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magazin-legalizace.cz/wp-content/uploads/2020/03/alkohol1.jpg" TargetMode="Externa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bylinkareni.cz/wp-content/uploads/2020/10/Jagermeister.png" TargetMode="External"/><Relationship Id="rId3" Type="http://schemas.openxmlformats.org/officeDocument/2006/relationships/image" Target="../media/image6.jpeg"/><Relationship Id="rId7" Type="http://schemas.openxmlformats.org/officeDocument/2006/relationships/image" Target="../media/image8.png"/><Relationship Id="rId2" Type="http://schemas.openxmlformats.org/officeDocument/2006/relationships/hyperlink" Target="https://www.alkoholhk.cz/fotky32564/fotos/_vyr_47_p1.jpg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nenive.cz/pub/media/catalog/product/cache/5e943ec86580054ec2fda73128d751b9/e/p/ep_6136_1.png" TargetMode="External"/><Relationship Id="rId11" Type="http://schemas.openxmlformats.org/officeDocument/2006/relationships/image" Target="../media/image11.png"/><Relationship Id="rId5" Type="http://schemas.openxmlformats.org/officeDocument/2006/relationships/image" Target="../media/image7.jpeg"/><Relationship Id="rId10" Type="http://schemas.openxmlformats.org/officeDocument/2006/relationships/image" Target="../media/image10.png"/><Relationship Id="rId4" Type="http://schemas.openxmlformats.org/officeDocument/2006/relationships/hyperlink" Target="https://www.alkohol.cz/images/preview/thumb_1000_700_nw_161476966900553_slivovice_plu-brandy_45_0-7l-2020.jpg" TargetMode="External"/><Relationship Id="rId9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www.alkohol-skodi.cz/data/images/xrizika.png.pagespeed.ic.DWl6viGshG.png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hyperlink" Target="https://www.mix24.cz/wp-content/uploads/2021/01/alkohol.jpg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hyperlink" Target="https://cdn.administrace.tv/2022/04/23/hd/383d10e3f198f066ff6959e151d77b29.jpg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jpeg"/><Relationship Id="rId4" Type="http://schemas.openxmlformats.org/officeDocument/2006/relationships/hyperlink" Target="https://upload.wikimedia.org/wikipedia/commons/d/d8/Spirituosen-im-supermarkt.jpg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hyperlink" Target="https://digitalcontent.api.tesco.com/v2/media/ghs/8304aa0b-6ba0-4238-a263-cfe859b2a012/fa6621b4-9194-46dd-965c-81e66c56cc68_821971247.jpeg?h=540&amp;w=540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jpeg"/><Relationship Id="rId5" Type="http://schemas.openxmlformats.org/officeDocument/2006/relationships/image" Target="../media/image20.jpeg"/><Relationship Id="rId4" Type="http://schemas.openxmlformats.org/officeDocument/2006/relationships/image" Target="../media/image19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hyperlink" Target="https://a.allegroimg.com/original/122ded/23f7d3884faa935dd085dc5eac60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jpeg"/><Relationship Id="rId3" Type="http://schemas.openxmlformats.org/officeDocument/2006/relationships/image" Target="../media/image10.png"/><Relationship Id="rId7" Type="http://schemas.openxmlformats.org/officeDocument/2006/relationships/image" Target="../media/image24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jpeg"/><Relationship Id="rId5" Type="http://schemas.openxmlformats.org/officeDocument/2006/relationships/hyperlink" Target="https://nakashu.sk/wp-content/uploads/2018/03/Jack-Daniels-Old-No.7-07-l-300x300.jpg" TargetMode="Externa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hyperlink" Target="https://vrtal.cz/uploads/2021/07/31017056.jpeg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jpeg"/><Relationship Id="rId5" Type="http://schemas.openxmlformats.org/officeDocument/2006/relationships/hyperlink" Target="https://vrtal.cz/uploads/2022/06/31026015.jpeg" TargetMode="External"/><Relationship Id="rId4" Type="http://schemas.openxmlformats.org/officeDocument/2006/relationships/image" Target="../media/image28.jpe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3" name="Rectangle 9222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218" name="Picture 2" descr="Alkohol na svatbu - Kolik piva? Kolik vína? Co na přípitek? Prostě vše!">
            <a:hlinkClick r:id="rId2"/>
            <a:extLst>
              <a:ext uri="{FF2B5EF4-FFF2-40B4-BE49-F238E27FC236}">
                <a16:creationId xmlns:a16="http://schemas.microsoft.com/office/drawing/2014/main" id="{BB530958-1782-43ED-219B-04803DD91E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0" y="1"/>
            <a:ext cx="1219198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A0D6D9B7-8E1B-CFAE-AE80-EFBA17A517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cs-CZ" dirty="0">
                <a:solidFill>
                  <a:srgbClr val="FFFFFF"/>
                </a:solidFill>
              </a:rPr>
              <a:t>Alkohol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8D8DE921-887A-0EA5-DBC7-55D6021029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59404"/>
            <a:ext cx="9144000" cy="1098395"/>
          </a:xfrm>
        </p:spPr>
        <p:txBody>
          <a:bodyPr>
            <a:normAutofit/>
          </a:bodyPr>
          <a:lstStyle/>
          <a:p>
            <a:r>
              <a:rPr lang="cs-CZ" dirty="0">
                <a:solidFill>
                  <a:srgbClr val="FFFFFF"/>
                </a:solidFill>
              </a:rPr>
              <a:t>Tomáš Podpleský 2. M</a:t>
            </a:r>
          </a:p>
        </p:txBody>
      </p:sp>
    </p:spTree>
    <p:extLst>
      <p:ext uri="{BB962C8B-B14F-4D97-AF65-F5344CB8AC3E}">
        <p14:creationId xmlns:p14="http://schemas.microsoft.com/office/powerpoint/2010/main" val="16191979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247" name="Rectangle 10246">
            <a:extLst>
              <a:ext uri="{FF2B5EF4-FFF2-40B4-BE49-F238E27FC236}">
                <a16:creationId xmlns:a16="http://schemas.microsoft.com/office/drawing/2014/main" id="{F94AA2BD-2E3F-4B1D-8127-5744B81153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42" name="Picture 2" descr="Pivo i za 80 korun? Nadšený není nikdo, říká hospodský - Seznam Zprávy">
            <a:hlinkClick r:id="rId2"/>
            <a:extLst>
              <a:ext uri="{FF2B5EF4-FFF2-40B4-BE49-F238E27FC236}">
                <a16:creationId xmlns:a16="http://schemas.microsoft.com/office/drawing/2014/main" id="{AD7FE036-12B6-3D16-ADB1-76E4B3A1BF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55" t="-1109" r="22483" b="-1"/>
          <a:stretch/>
        </p:blipFill>
        <p:spPr bwMode="auto">
          <a:xfrm>
            <a:off x="4333875" y="-329184"/>
            <a:ext cx="8139599" cy="7434834"/>
          </a:xfrm>
          <a:custGeom>
            <a:avLst/>
            <a:gdLst/>
            <a:ahLst/>
            <a:cxnLst/>
            <a:rect l="l" t="t" r="r" b="b"/>
            <a:pathLst>
              <a:path w="6883948" h="6858000">
                <a:moveTo>
                  <a:pt x="365648" y="0"/>
                </a:moveTo>
                <a:lnTo>
                  <a:pt x="6883948" y="0"/>
                </a:lnTo>
                <a:lnTo>
                  <a:pt x="6883948" y="6858000"/>
                </a:lnTo>
                <a:lnTo>
                  <a:pt x="365648" y="6858000"/>
                </a:lnTo>
                <a:lnTo>
                  <a:pt x="360213" y="6835050"/>
                </a:lnTo>
                <a:cubicBezTo>
                  <a:pt x="128263" y="5788167"/>
                  <a:pt x="0" y="4637179"/>
                  <a:pt x="0" y="3429001"/>
                </a:cubicBezTo>
                <a:cubicBezTo>
                  <a:pt x="0" y="2220824"/>
                  <a:pt x="128263" y="1069835"/>
                  <a:pt x="360213" y="22952"/>
                </a:cubicBezTo>
                <a:close/>
              </a:path>
            </a:pathLst>
          </a:custGeom>
          <a:solidFill>
            <a:schemeClr val="tx1"/>
          </a:solidFill>
          <a:effectLst>
            <a:outerShdw blurRad="50800" dist="38100" dir="10800000" algn="r" rotWithShape="0">
              <a:schemeClr val="bg1">
                <a:lumMod val="85000"/>
                <a:alpha val="30000"/>
              </a:schemeClr>
            </a:outerShdw>
            <a:softEdge rad="317500"/>
          </a:effectLst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4A32BBD4-7D5C-BB9E-A30B-F49E60BD6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87552"/>
            <a:ext cx="4485861" cy="1088136"/>
          </a:xfrm>
        </p:spPr>
        <p:txBody>
          <a:bodyPr anchor="b">
            <a:normAutofit/>
          </a:bodyPr>
          <a:lstStyle/>
          <a:p>
            <a:r>
              <a:rPr lang="cs-CZ" sz="3400" dirty="0">
                <a:solidFill>
                  <a:schemeClr val="bg1"/>
                </a:solidFill>
              </a:rPr>
              <a:t>Obsah</a:t>
            </a:r>
          </a:p>
        </p:txBody>
      </p:sp>
      <p:sp>
        <p:nvSpPr>
          <p:cNvPr id="10249" name="Rectangle 10248">
            <a:extLst>
              <a:ext uri="{FF2B5EF4-FFF2-40B4-BE49-F238E27FC236}">
                <a16:creationId xmlns:a16="http://schemas.microsoft.com/office/drawing/2014/main" id="{4BD02261-2DC8-4AA8-9E16-7751AE8924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251" name="Rectangle 10250">
            <a:extLst>
              <a:ext uri="{FF2B5EF4-FFF2-40B4-BE49-F238E27FC236}">
                <a16:creationId xmlns:a16="http://schemas.microsoft.com/office/drawing/2014/main" id="{3D752CF2-2291-40B5-B462-C17B174C10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6000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A791786-F509-9DA9-2288-1642167264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79" y="2688336"/>
            <a:ext cx="4498848" cy="3584448"/>
          </a:xfrm>
        </p:spPr>
        <p:txBody>
          <a:bodyPr numCol="2" anchor="t">
            <a:normAutofit fontScale="85000" lnSpcReduction="10000"/>
          </a:bodyPr>
          <a:lstStyle/>
          <a:p>
            <a:r>
              <a:rPr lang="cs-CZ" dirty="0">
                <a:hlinkClick r:id="" action="ppaction://noaction"/>
              </a:rPr>
              <a:t>Výroba</a:t>
            </a:r>
            <a:endParaRPr lang="cs-CZ" dirty="0"/>
          </a:p>
          <a:p>
            <a:r>
              <a:rPr lang="cs-CZ" dirty="0">
                <a:hlinkClick r:id="" action="ppaction://noaction"/>
              </a:rPr>
              <a:t>Historie</a:t>
            </a:r>
            <a:endParaRPr lang="cs-CZ" dirty="0"/>
          </a:p>
          <a:p>
            <a:r>
              <a:rPr lang="cs-CZ" dirty="0">
                <a:hlinkClick r:id="" action="ppaction://noaction"/>
              </a:rPr>
              <a:t>Složení</a:t>
            </a:r>
            <a:endParaRPr lang="cs-CZ" dirty="0"/>
          </a:p>
          <a:p>
            <a:r>
              <a:rPr lang="cs-CZ" dirty="0">
                <a:hlinkClick r:id="" action="ppaction://noaction"/>
              </a:rPr>
              <a:t>Účinky</a:t>
            </a:r>
            <a:endParaRPr lang="cs-CZ" dirty="0"/>
          </a:p>
          <a:p>
            <a:r>
              <a:rPr lang="cs-CZ" dirty="0">
                <a:hlinkClick r:id="" action="ppaction://noaction"/>
              </a:rPr>
              <a:t>Rizika</a:t>
            </a:r>
            <a:endParaRPr lang="cs-CZ" dirty="0"/>
          </a:p>
          <a:p>
            <a:r>
              <a:rPr lang="cs-CZ" dirty="0">
                <a:hlinkClick r:id="" action="ppaction://noaction"/>
              </a:rPr>
              <a:t>Závislost</a:t>
            </a:r>
            <a:endParaRPr lang="cs-CZ" dirty="0"/>
          </a:p>
          <a:p>
            <a:r>
              <a:rPr lang="cs-CZ" dirty="0">
                <a:hlinkClick r:id="" action="ppaction://noaction"/>
              </a:rPr>
              <a:t>Druhy</a:t>
            </a:r>
            <a:endParaRPr lang="cs-CZ" dirty="0"/>
          </a:p>
          <a:p>
            <a:r>
              <a:rPr lang="cs-CZ" dirty="0">
                <a:hlinkClick r:id="" action="ppaction://noaction"/>
              </a:rPr>
              <a:t>Pivo</a:t>
            </a:r>
            <a:endParaRPr lang="cs-CZ" dirty="0"/>
          </a:p>
          <a:p>
            <a:r>
              <a:rPr lang="cs-CZ" dirty="0">
                <a:hlinkClick r:id="" action="ppaction://noaction"/>
              </a:rPr>
              <a:t>Víno</a:t>
            </a:r>
            <a:endParaRPr lang="cs-CZ" dirty="0"/>
          </a:p>
          <a:p>
            <a:r>
              <a:rPr lang="cs-CZ" dirty="0">
                <a:hlinkClick r:id="" action="ppaction://noaction"/>
              </a:rPr>
              <a:t>Tmavý alkohol</a:t>
            </a:r>
            <a:endParaRPr lang="cs-CZ" dirty="0"/>
          </a:p>
          <a:p>
            <a:r>
              <a:rPr lang="cs-CZ" dirty="0">
                <a:hlinkClick r:id="" action="ppaction://noaction"/>
              </a:rPr>
              <a:t>Světlý alkohol</a:t>
            </a:r>
            <a:endParaRPr lang="cs-CZ" dirty="0"/>
          </a:p>
          <a:p>
            <a:r>
              <a:rPr lang="cs-CZ" dirty="0">
                <a:hlinkClick r:id="" action="ppaction://noaction"/>
              </a:rPr>
              <a:t>Český alkohol</a:t>
            </a:r>
            <a:endParaRPr lang="cs-CZ" dirty="0"/>
          </a:p>
          <a:p>
            <a:r>
              <a:rPr lang="cs-CZ" dirty="0">
                <a:hlinkClick r:id="" action="ppaction://noaction"/>
              </a:rPr>
              <a:t>Rekordy</a:t>
            </a:r>
            <a:endParaRPr lang="cs-CZ" dirty="0"/>
          </a:p>
          <a:p>
            <a:r>
              <a:rPr lang="cs-CZ" dirty="0">
                <a:hlinkClick r:id="" action="ppaction://noaction"/>
              </a:rPr>
              <a:t>Moje zkušenost</a:t>
            </a:r>
            <a:endParaRPr lang="cs-CZ" dirty="0"/>
          </a:p>
          <a:p>
            <a:endParaRPr lang="cs-CZ" sz="900" dirty="0"/>
          </a:p>
        </p:txBody>
      </p:sp>
    </p:spTree>
    <p:extLst>
      <p:ext uri="{BB962C8B-B14F-4D97-AF65-F5344CB8AC3E}">
        <p14:creationId xmlns:p14="http://schemas.microsoft.com/office/powerpoint/2010/main" val="12816891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CA7FE51-A983-34A8-7064-7A645B77F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Výroba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3010DC3-585B-CAFD-30D4-81783CCBA7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Alkohol se vyrábí přirozeným procesem kvašení, kdy kvasinky přeměňují cukry na ethanol a oxid uhličitý. Tento proces se využívá již tisíce let při výrobě nápojů, jako je pivo, víno a destiláty.</a:t>
            </a:r>
          </a:p>
          <a:p>
            <a:endParaRPr lang="cs-CZ" dirty="0"/>
          </a:p>
        </p:txBody>
      </p:sp>
      <p:pic>
        <p:nvPicPr>
          <p:cNvPr id="11266" name="Picture 2" descr="Výroba alkoholických nápojů – Wikiknihy">
            <a:hlinkClick r:id="rId2"/>
            <a:extLst>
              <a:ext uri="{FF2B5EF4-FFF2-40B4-BE49-F238E27FC236}">
                <a16:creationId xmlns:a16="http://schemas.microsoft.com/office/drawing/2014/main" id="{659C6167-922D-0F7D-A050-41042817A1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432" y="3155182"/>
            <a:ext cx="38100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8" name="Picture 4" descr="Aký je postup pri pálení alkoholu? Výroba kvalitného destilátu má niekoľko  krokov - Mabo Blog">
            <a:hlinkClick r:id="rId4"/>
            <a:extLst>
              <a:ext uri="{FF2B5EF4-FFF2-40B4-BE49-F238E27FC236}">
                <a16:creationId xmlns:a16="http://schemas.microsoft.com/office/drawing/2014/main" id="{FF923869-112D-EF2E-0204-8D6A1D6055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7848" y="3155182"/>
            <a:ext cx="5066977" cy="2651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53889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Neodolatelný alkohol - Legalizace | Magazín, který vám rozšíří zorničky">
            <a:hlinkClick r:id="rId2"/>
            <a:extLst>
              <a:ext uri="{FF2B5EF4-FFF2-40B4-BE49-F238E27FC236}">
                <a16:creationId xmlns:a16="http://schemas.microsoft.com/office/drawing/2014/main" id="{0009167C-D8AE-CC2F-D4AB-33F912A873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4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0015" t="-1" r="17538" b="-1"/>
          <a:stretch/>
        </p:blipFill>
        <p:spPr bwMode="auto">
          <a:xfrm>
            <a:off x="4067783" y="-1214014"/>
            <a:ext cx="11368155" cy="9512166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glow rad="63500">
              <a:schemeClr val="accent1">
                <a:alpha val="44000"/>
              </a:schemeClr>
            </a:glow>
            <a:outerShdw blurRad="1270000" dist="2540000" dir="10800000" sx="1000" sy="1000" algn="ctr" rotWithShape="0">
              <a:schemeClr val="tx1">
                <a:alpha val="13000"/>
              </a:schemeClr>
            </a:outerShdw>
            <a:reflection stA="45000" endPos="0" dist="50800" dir="5400000" sy="-100000" algn="bl" rotWithShape="0"/>
          </a:effectLst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6BE22756-6A76-4094-44C6-3DB092454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cs-CZ" dirty="0">
                <a:solidFill>
                  <a:schemeClr val="bg1"/>
                </a:solidFill>
              </a:rPr>
              <a:t>Historie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E378326-E768-DB80-6D63-14FA53C78A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dirty="0">
                <a:solidFill>
                  <a:schemeClr val="bg1"/>
                </a:solidFill>
              </a:rPr>
              <a:t>Mezopotámie (4000 př. n. l.) – první zmínky o pivu.</a:t>
            </a:r>
          </a:p>
          <a:p>
            <a:r>
              <a:rPr lang="cs-CZ" dirty="0">
                <a:solidFill>
                  <a:schemeClr val="bg1"/>
                </a:solidFill>
              </a:rPr>
              <a:t>Starověký Egypt – výroba vína a piva pro obřady a běžnou konzumaci.</a:t>
            </a:r>
          </a:p>
          <a:p>
            <a:r>
              <a:rPr lang="cs-CZ" dirty="0">
                <a:solidFill>
                  <a:schemeClr val="bg1"/>
                </a:solidFill>
              </a:rPr>
              <a:t>Středověk – rozvoj destilace, vznik silnějších alkoholických nápojů.</a:t>
            </a:r>
          </a:p>
          <a:p>
            <a:r>
              <a:rPr lang="cs-CZ" dirty="0">
                <a:solidFill>
                  <a:schemeClr val="bg1"/>
                </a:solidFill>
              </a:rPr>
              <a:t>Novověk – komerční výroba, vznik pivovarů, vinic a lihovarů.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7937595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60A34F4-8F90-D3A1-DB16-FA05463AF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Složení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557DE61-AE1C-8C27-0DAD-F6B86218DF0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484865"/>
            <a:ext cx="1019061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cs-CZ" altLang="cs-CZ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Hlavní složkou je ethanol (</a:t>
            </a:r>
            <a:r>
              <a:rPr kumimoji="0" lang="cs-CZ" altLang="cs-CZ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ethylalkohol</a:t>
            </a:r>
            <a:r>
              <a:rPr kumimoji="0" lang="cs-CZ" altLang="cs-CZ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cs-CZ" altLang="cs-CZ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Vedlejší látky: voda, cukry, kyseliny, třísloviny.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cs-CZ" altLang="cs-CZ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Destiláty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cs-CZ" altLang="cs-CZ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obsahují vyšší koncentraci ethanolu (40 % a více), zatímco víno a pivo mají nižší podíl (5–15 %). </a:t>
            </a:r>
          </a:p>
        </p:txBody>
      </p:sp>
      <p:pic>
        <p:nvPicPr>
          <p:cNvPr id="1027" name="Picture 3" descr="Božkov Peprmint 1 l">
            <a:hlinkClick r:id="rId2"/>
            <a:extLst>
              <a:ext uri="{FF2B5EF4-FFF2-40B4-BE49-F238E27FC236}">
                <a16:creationId xmlns:a16="http://schemas.microsoft.com/office/drawing/2014/main" id="{0A38FC71-DCAD-790F-110C-37DAA70D2E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727" y="3071404"/>
            <a:ext cx="2675841" cy="30292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 descr="Slivovice 3y 0,7l 45% | ALKOHOL.cz">
            <a:hlinkClick r:id="rId4"/>
            <a:extLst>
              <a:ext uri="{FF2B5EF4-FFF2-40B4-BE49-F238E27FC236}">
                <a16:creationId xmlns:a16="http://schemas.microsoft.com/office/drawing/2014/main" id="{747A451B-7710-A264-FC20-FDD0D4F9E6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2657" y="3071404"/>
            <a:ext cx="2096153" cy="3527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1" name="Picture 7" descr="Božkov Original 37,5%, panák 0,04l">
            <a:hlinkClick r:id="rId6"/>
            <a:extLst>
              <a:ext uri="{FF2B5EF4-FFF2-40B4-BE49-F238E27FC236}">
                <a16:creationId xmlns:a16="http://schemas.microsoft.com/office/drawing/2014/main" id="{63598597-5AAF-26B2-8C5C-DAE70AA0E2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9259" y="259415"/>
            <a:ext cx="1801646" cy="2271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3" name="Picture 9" descr="Jägermeister - ledově namražený nápoj obsahuje 56 bylin | Bylinkaření.cz">
            <a:hlinkClick r:id="rId8"/>
            <a:extLst>
              <a:ext uri="{FF2B5EF4-FFF2-40B4-BE49-F238E27FC236}">
                <a16:creationId xmlns:a16="http://schemas.microsoft.com/office/drawing/2014/main" id="{A8980A98-A220-5AB9-BBC3-8CF431A661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6406" y="3330819"/>
            <a:ext cx="2094707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5" name="Picture 11" descr="Svatozář Anděl Zlato - Obrázek zdarma na Pixabay">
            <a:extLst>
              <a:ext uri="{FF2B5EF4-FFF2-40B4-BE49-F238E27FC236}">
                <a16:creationId xmlns:a16="http://schemas.microsoft.com/office/drawing/2014/main" id="{967786EF-22B3-C5B4-AB96-CAB1F3E1DD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4408" y="2685194"/>
            <a:ext cx="2384809" cy="17886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5" name="Picture 21" descr="Mašle | Vánoce | Ilustrační obrázek, klipart, zadarmo">
            <a:extLst>
              <a:ext uri="{FF2B5EF4-FFF2-40B4-BE49-F238E27FC236}">
                <a16:creationId xmlns:a16="http://schemas.microsoft.com/office/drawing/2014/main" id="{8B7E95FB-3591-B637-77F5-E3B68813CB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51296" flipH="1">
            <a:off x="6191307" y="3935067"/>
            <a:ext cx="673118" cy="682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36278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DFA7175-1B90-7679-D162-49C8A75F1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Účinky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2EF4DF9-6AF9-5ADA-9B81-571E40F280C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535900"/>
            <a:ext cx="7773063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cs-CZ" altLang="cs-CZ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Pozitivní: Uvolnění, euforie, podpora společenské interakce.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cs-CZ" altLang="cs-CZ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Negativní: Snížená koordinace, zhoršené rozhodování, únava.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cs-CZ" altLang="cs-CZ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Fyzické: Zrychlený tep, dehydratace, vliv na játra. </a:t>
            </a:r>
          </a:p>
        </p:txBody>
      </p:sp>
      <p:pic>
        <p:nvPicPr>
          <p:cNvPr id="2051" name="Picture 3">
            <a:extLst>
              <a:ext uri="{FF2B5EF4-FFF2-40B4-BE49-F238E27FC236}">
                <a16:creationId xmlns:a16="http://schemas.microsoft.com/office/drawing/2014/main" id="{AD41B008-AEAA-9A97-74D6-9D0EC556EB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7721" y="2578009"/>
            <a:ext cx="2622164" cy="3496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3" name="Picture 5">
            <a:extLst>
              <a:ext uri="{FF2B5EF4-FFF2-40B4-BE49-F238E27FC236}">
                <a16:creationId xmlns:a16="http://schemas.microsoft.com/office/drawing/2014/main" id="{DEC31B87-B46B-25CF-F79A-7E5CA20B2E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3566" y="2578009"/>
            <a:ext cx="2127176" cy="37832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19546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C1E7B65-8B7B-5D5C-C1D7-3C6A501EC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Rizika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CA7C78C-6294-1A08-9CE8-C2308568E4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cs-CZ" b="1" dirty="0"/>
              <a:t>Krátkodobá:</a:t>
            </a:r>
            <a:r>
              <a:rPr lang="cs-CZ" dirty="0"/>
              <a:t> Otrava alkoholem, nevolnost, úrazy.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b="1" dirty="0"/>
              <a:t>Dlouhodobá:</a:t>
            </a:r>
            <a:r>
              <a:rPr lang="cs-CZ" dirty="0"/>
              <a:t> Poškození jater, kardiovaskulárních systémů, riziko rakoviny.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dirty="0"/>
              <a:t>Alkohol ovlivňuje psychiku a může způsobovat deprese či úzkosti.</a:t>
            </a:r>
          </a:p>
          <a:p>
            <a:endParaRPr lang="cs-CZ" dirty="0"/>
          </a:p>
        </p:txBody>
      </p:sp>
      <p:pic>
        <p:nvPicPr>
          <p:cNvPr id="13314" name="Picture 2" descr="Zdraví - Alkohol škodí">
            <a:hlinkClick r:id="rId2"/>
            <a:extLst>
              <a:ext uri="{FF2B5EF4-FFF2-40B4-BE49-F238E27FC236}">
                <a16:creationId xmlns:a16="http://schemas.microsoft.com/office/drawing/2014/main" id="{126DA790-8761-8934-D697-AFCA694D70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1138" y="4001294"/>
            <a:ext cx="66675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53971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867AC4B-8C5C-1E57-0597-7A0FC628B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Závislost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508670F-1D13-71C9-17BF-059E07580C6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825625"/>
            <a:ext cx="7437677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cs-CZ" altLang="cs-CZ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cs-CZ" altLang="cs-CZ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Závislost na alkoholu (alkoholismus) je psychická a fyzická.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cs-CZ" altLang="cs-CZ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Příznaky: potřeba vyšších dávek, abstinenční příznaky, ztráta kontroly.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cs-CZ" altLang="cs-CZ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Léčba zahrnuje terapii, podporu rodiny a někdy i medikaci. </a:t>
            </a:r>
          </a:p>
        </p:txBody>
      </p:sp>
      <p:pic>
        <p:nvPicPr>
          <p:cNvPr id="3075" name="Picture 3" descr="Rozpoznejte závislost na alkoholu, která už ohrožuje život. Překročit  hranici je až hrozivě snadné - Mix24.cz">
            <a:hlinkClick r:id="rId2"/>
            <a:extLst>
              <a:ext uri="{FF2B5EF4-FFF2-40B4-BE49-F238E27FC236}">
                <a16:creationId xmlns:a16="http://schemas.microsoft.com/office/drawing/2014/main" id="{3DC0CF8E-5B5B-1024-3830-171E49618B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1284" y="3025954"/>
            <a:ext cx="4960536" cy="3203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06267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B4A566C-60CE-4F8E-F0F1-96E430B83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Druhy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A7410C2-D908-8E7F-C6EF-7C53050DBE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Alkohol se dělí na čtyři základní druhy</a:t>
            </a:r>
          </a:p>
          <a:p>
            <a:pPr lvl="1"/>
            <a:r>
              <a:rPr lang="cs-CZ" dirty="0"/>
              <a:t>Pivo</a:t>
            </a:r>
          </a:p>
          <a:p>
            <a:pPr lvl="1"/>
            <a:r>
              <a:rPr lang="cs-CZ" dirty="0"/>
              <a:t>Víno</a:t>
            </a:r>
          </a:p>
          <a:p>
            <a:pPr lvl="1"/>
            <a:r>
              <a:rPr lang="cs-CZ" dirty="0"/>
              <a:t>Tmavý a světlý alkohol</a:t>
            </a:r>
          </a:p>
        </p:txBody>
      </p:sp>
      <p:pic>
        <p:nvPicPr>
          <p:cNvPr id="14338" name="Picture 2" descr="Víno, pivo, nebo něco ostřejšího? Odborníci zjistili, jak působí různé druhy  alkoholu na naši náladu - CNN Prima NEWS">
            <a:hlinkClick r:id="rId2"/>
            <a:extLst>
              <a:ext uri="{FF2B5EF4-FFF2-40B4-BE49-F238E27FC236}">
                <a16:creationId xmlns:a16="http://schemas.microsoft.com/office/drawing/2014/main" id="{08D4B5F8-0BD5-4F45-E02F-AFAE49DF55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2096" y="3700462"/>
            <a:ext cx="4547297" cy="30315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40" name="Picture 4" descr="Pálenka – Wikipedie">
            <a:hlinkClick r:id="rId4"/>
            <a:extLst>
              <a:ext uri="{FF2B5EF4-FFF2-40B4-BE49-F238E27FC236}">
                <a16:creationId xmlns:a16="http://schemas.microsoft.com/office/drawing/2014/main" id="{3A5BAFCB-A54D-1BF8-A395-FC6616927F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1366" y="365125"/>
            <a:ext cx="4800600" cy="320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937144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5CFDC92-DA7E-9B1D-C000-E183AC075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Pivo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92E58E5-FC38-7801-17EF-030924056C9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027906"/>
            <a:ext cx="5548314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cs-CZ" altLang="cs-CZ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cs-CZ" altLang="cs-CZ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Nejstarší alkoholický nápoj.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cs-CZ" altLang="cs-CZ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Základní suroviny: slad, chmel, voda a kvasinky.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cs-CZ" altLang="cs-CZ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Oblíbené typy: ležák, ale, </a:t>
            </a:r>
            <a:r>
              <a:rPr kumimoji="0" lang="cs-CZ" altLang="cs-CZ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stout</a:t>
            </a:r>
            <a:r>
              <a:rPr kumimoji="0" lang="cs-CZ" altLang="cs-CZ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cs-CZ" altLang="cs-CZ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Česko je známé vysokou spotřebou piva na osobu. </a:t>
            </a:r>
          </a:p>
        </p:txBody>
      </p:sp>
      <p:pic>
        <p:nvPicPr>
          <p:cNvPr id="4099" name="Picture 3" descr="Velkopopovický Kozel Pivo 11 ležák světlý 0,5l - Tesco Potraviny">
            <a:hlinkClick r:id="rId2"/>
            <a:extLst>
              <a:ext uri="{FF2B5EF4-FFF2-40B4-BE49-F238E27FC236}">
                <a16:creationId xmlns:a16="http://schemas.microsoft.com/office/drawing/2014/main" id="{09A228CA-6289-AEAC-1F8D-D8DCDC3487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1733" y="3926922"/>
            <a:ext cx="2387083" cy="2387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1" name="Picture 5" descr="Radegast Ryze hořká 12, světlý ležák, 20x0,5l | Vrtal s.r.o.">
            <a:extLst>
              <a:ext uri="{FF2B5EF4-FFF2-40B4-BE49-F238E27FC236}">
                <a16:creationId xmlns:a16="http://schemas.microsoft.com/office/drawing/2014/main" id="{BCA36196-2061-1407-8A75-3C3DFE7743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100" y="2605716"/>
            <a:ext cx="3526709" cy="35267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3" name="Picture 7" descr="Pilsner Urquell světlý ležák 24x0,33l sklo | Vrtal s.r.o.">
            <a:extLst>
              <a:ext uri="{FF2B5EF4-FFF2-40B4-BE49-F238E27FC236}">
                <a16:creationId xmlns:a16="http://schemas.microsoft.com/office/drawing/2014/main" id="{2BBA47B5-FCD4-051D-F31C-657260208F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5573" y="2673151"/>
            <a:ext cx="3640854" cy="36408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7" name="Picture 11" descr="29,90 Kč - Braník... - Kde je dnes Braník 2L PET v akci? | Facebook">
            <a:extLst>
              <a:ext uri="{FF2B5EF4-FFF2-40B4-BE49-F238E27FC236}">
                <a16:creationId xmlns:a16="http://schemas.microsoft.com/office/drawing/2014/main" id="{28142784-481C-5A1C-DF9D-BF120C34E0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3877" y="184943"/>
            <a:ext cx="4545110" cy="2832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598207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11E124E-B902-268B-B7DE-03BB8DCD2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Víno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CA717B1-A48D-A042-DD6D-3A0B45E5D9E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918781"/>
            <a:ext cx="5480988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cs-CZ" altLang="cs-CZ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cs-CZ" altLang="cs-CZ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Vyrábí se z hroznů pomocí kvašení.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cs-CZ" altLang="cs-CZ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Rozdělení: suché, polosuché, sladké.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cs-CZ" altLang="cs-CZ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Zajímavosti: stáří vína ovlivňuje jeho kvalitu a chuť </a:t>
            </a:r>
          </a:p>
        </p:txBody>
      </p:sp>
      <p:pic>
        <p:nvPicPr>
          <p:cNvPr id="5123" name="Picture 3" descr="Jak vyrobit domácí víno z hroznů? Dva osvědčené recepty - Allegro">
            <a:hlinkClick r:id="rId2"/>
            <a:extLst>
              <a:ext uri="{FF2B5EF4-FFF2-40B4-BE49-F238E27FC236}">
                <a16:creationId xmlns:a16="http://schemas.microsoft.com/office/drawing/2014/main" id="{F629D2F9-6D3D-F50B-EED1-74EF4ABA41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320" y="2244344"/>
            <a:ext cx="7084089" cy="3990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54780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336D53B-C54E-91DB-304E-345F29C5D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Tmavý </a:t>
            </a:r>
            <a:r>
              <a:rPr lang="cs-CZ" dirty="0" err="1"/>
              <a:t>alohol</a:t>
            </a:r>
            <a:endParaRPr lang="cs-CZ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F562F50-FFE5-91A9-9540-6B57DF3F93F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71525" y="1235075"/>
            <a:ext cx="6340197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cs-CZ" altLang="cs-CZ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cs-CZ" altLang="cs-CZ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Mezi tmavé alkoholy patří rum, whisky, koňak.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cs-CZ" altLang="cs-CZ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Výroba: destilace cukrové třtiny, obilí, vína.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cs-CZ" altLang="cs-CZ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Specifika: výrazná chuť, často stárnou v dubových sudech. </a:t>
            </a:r>
          </a:p>
        </p:txBody>
      </p:sp>
      <p:pic>
        <p:nvPicPr>
          <p:cNvPr id="5" name="Picture 9" descr="Jägermeister - ledově namražený nápoj obsahuje 56 bylin | Bylinkaření.cz">
            <a:extLst>
              <a:ext uri="{FF2B5EF4-FFF2-40B4-BE49-F238E27FC236}">
                <a16:creationId xmlns:a16="http://schemas.microsoft.com/office/drawing/2014/main" id="{81832651-0999-6296-9D6B-89F5B13A7E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669" y="2708097"/>
            <a:ext cx="2094707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11" descr="Svatozář Anděl Zlato - Obrázek zdarma na Pixabay">
            <a:extLst>
              <a:ext uri="{FF2B5EF4-FFF2-40B4-BE49-F238E27FC236}">
                <a16:creationId xmlns:a16="http://schemas.microsoft.com/office/drawing/2014/main" id="{1C406373-8912-7846-79B4-D73190EFA2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671" y="2062472"/>
            <a:ext cx="2384809" cy="17886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1" descr="Mašle | Vánoce | Ilustrační obrázek, klipart, zadarmo">
            <a:extLst>
              <a:ext uri="{FF2B5EF4-FFF2-40B4-BE49-F238E27FC236}">
                <a16:creationId xmlns:a16="http://schemas.microsoft.com/office/drawing/2014/main" id="{F9DABCB3-10B5-5382-A28A-04F43BE9E1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51296" flipH="1">
            <a:off x="1395570" y="3312345"/>
            <a:ext cx="673118" cy="682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7" name="Picture 3" descr="Tmavý alkohol – Nakashu.sk">
            <a:hlinkClick r:id="rId5"/>
            <a:extLst>
              <a:ext uri="{FF2B5EF4-FFF2-40B4-BE49-F238E27FC236}">
                <a16:creationId xmlns:a16="http://schemas.microsoft.com/office/drawing/2014/main" id="{40943F55-568D-0D0D-7DF4-C4C81DEAB1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2978" y="324712"/>
            <a:ext cx="28575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9" name="Picture 5" descr="Captain Morgan Dark 40% 12x1 l - Hnědý rum, Rum, rumové likéry, cachaca,  Alkohol, Nápoje, tabák">
            <a:extLst>
              <a:ext uri="{FF2B5EF4-FFF2-40B4-BE49-F238E27FC236}">
                <a16:creationId xmlns:a16="http://schemas.microsoft.com/office/drawing/2014/main" id="{A4B0F2FA-101A-2CF2-03DB-12E4454519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0060" y="2708097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1" name="Picture 7" descr="Tatratea - pravý tatranský čaj | ALKOHOL.cz">
            <a:extLst>
              <a:ext uri="{FF2B5EF4-FFF2-40B4-BE49-F238E27FC236}">
                <a16:creationId xmlns:a16="http://schemas.microsoft.com/office/drawing/2014/main" id="{74C22BBD-726B-3F5A-29FE-02E6973014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7869" y="3305353"/>
            <a:ext cx="4559442" cy="3061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980667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12C4EAC-E42F-3832-492D-7447A7335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Světlý alkohol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AE9239C-0D44-0A17-AC17-24C8C2EC166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66638" y="1090523"/>
            <a:ext cx="5686172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cs-CZ" altLang="cs-CZ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cs-CZ" altLang="cs-CZ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Patří sem vodka, gin, tequila.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cs-CZ" altLang="cs-CZ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Výroba: destilace obilí, brambor nebo agáve.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cs-CZ" altLang="cs-CZ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Specifika: jemnější chuť, často používán do koktejlů. </a:t>
            </a:r>
          </a:p>
        </p:txBody>
      </p:sp>
      <p:pic>
        <p:nvPicPr>
          <p:cNvPr id="7171" name="Picture 3" descr="42 Blend vodka 42% 0,7 l - Vodky | Prodej potravin, nápojů a alkoholu Rojal">
            <a:extLst>
              <a:ext uri="{FF2B5EF4-FFF2-40B4-BE49-F238E27FC236}">
                <a16:creationId xmlns:a16="http://schemas.microsoft.com/office/drawing/2014/main" id="{5564CB6D-C480-13F5-71C7-BF1C5D0DBB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3719" y="126458"/>
            <a:ext cx="5173934" cy="6900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77293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9307D0E-5003-D3E1-C5FB-45C65EA7F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Český alkohol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0AD6300-3300-5355-9A17-D50D9D59657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364450"/>
            <a:ext cx="5467074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cs-CZ" altLang="cs-CZ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Becherovka</a:t>
            </a:r>
            <a:r>
              <a:rPr kumimoji="0" lang="cs-CZ" altLang="cs-CZ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bylinný likér z Karlových Varů.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cs-CZ" altLang="cs-CZ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Slivovice</a:t>
            </a:r>
            <a:r>
              <a:rPr kumimoji="0" lang="cs-CZ" altLang="cs-CZ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destilát z fermentovaných švestek.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cs-CZ" altLang="cs-CZ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Tuzemák</a:t>
            </a:r>
            <a:r>
              <a:rPr kumimoji="0" lang="cs-CZ" altLang="cs-CZ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český rum, vyráběný z cukrového lihu. </a:t>
            </a:r>
          </a:p>
        </p:txBody>
      </p:sp>
      <p:pic>
        <p:nvPicPr>
          <p:cNvPr id="8195" name="Picture 3" descr="BECHEROVKA LEMOND 1L 20% | Vrtal s.r.o.">
            <a:hlinkClick r:id="rId2"/>
            <a:extLst>
              <a:ext uri="{FF2B5EF4-FFF2-40B4-BE49-F238E27FC236}">
                <a16:creationId xmlns:a16="http://schemas.microsoft.com/office/drawing/2014/main" id="{A28B2540-B5AC-A386-025A-EC4194F4AA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8522" y="0"/>
            <a:ext cx="34226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7" name="Picture 5" descr="Jelínek Slivovice moravská bílá 1l 38%">
            <a:extLst>
              <a:ext uri="{FF2B5EF4-FFF2-40B4-BE49-F238E27FC236}">
                <a16:creationId xmlns:a16="http://schemas.microsoft.com/office/drawing/2014/main" id="{D18C35FA-46ED-7D1F-C9F5-1C817E0472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1521" y="2686349"/>
            <a:ext cx="3669354" cy="3669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9" name="Picture 7" descr="Tuzemák Jindřichohradecký 40% 0,5l | Vrtal s.r.o.">
            <a:hlinkClick r:id="rId5"/>
            <a:extLst>
              <a:ext uri="{FF2B5EF4-FFF2-40B4-BE49-F238E27FC236}">
                <a16:creationId xmlns:a16="http://schemas.microsoft.com/office/drawing/2014/main" id="{2817F120-9418-DE58-6FB1-D6F395D36A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1586" y="2055813"/>
            <a:ext cx="1619446" cy="4698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364586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310EE2F-972B-FCD0-488A-334A21EF0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Rekordy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910FB6E-1A43-B279-F434-1E49632F5B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b="1" dirty="0"/>
              <a:t>Největší spotřeba piva na obyvatele</a:t>
            </a:r>
            <a:r>
              <a:rPr lang="cs-CZ" dirty="0"/>
              <a:t>: Česká republika, více než 140 litrů na osobu ročně.</a:t>
            </a:r>
          </a:p>
          <a:p>
            <a:r>
              <a:rPr lang="cs-CZ" b="1" dirty="0"/>
              <a:t>Nejsilnější pivo na světě</a:t>
            </a:r>
            <a:r>
              <a:rPr lang="cs-CZ" dirty="0"/>
              <a:t>: „</a:t>
            </a:r>
            <a:r>
              <a:rPr lang="cs-CZ" dirty="0" err="1"/>
              <a:t>Snake</a:t>
            </a:r>
            <a:r>
              <a:rPr lang="cs-CZ" dirty="0"/>
              <a:t> </a:t>
            </a:r>
            <a:r>
              <a:rPr lang="cs-CZ" dirty="0" err="1"/>
              <a:t>Venom</a:t>
            </a:r>
            <a:r>
              <a:rPr lang="cs-CZ" dirty="0"/>
              <a:t>“ od </a:t>
            </a:r>
            <a:r>
              <a:rPr lang="cs-CZ" dirty="0" err="1"/>
              <a:t>Brewmeister</a:t>
            </a:r>
            <a:r>
              <a:rPr lang="cs-CZ" dirty="0"/>
              <a:t>, obsahuje 67,5 % alkoholu.</a:t>
            </a:r>
          </a:p>
          <a:p>
            <a:r>
              <a:rPr lang="cs-CZ" b="1" dirty="0"/>
              <a:t>Nejrychleji vypité pivo</a:t>
            </a:r>
            <a:r>
              <a:rPr lang="cs-CZ" dirty="0"/>
              <a:t>: Světový rekord je 1,3 sekundy na pintu (přibližně 0,57 litru).</a:t>
            </a:r>
          </a:p>
        </p:txBody>
      </p:sp>
    </p:spTree>
    <p:extLst>
      <p:ext uri="{BB962C8B-B14F-4D97-AF65-F5344CB8AC3E}">
        <p14:creationId xmlns:p14="http://schemas.microsoft.com/office/powerpoint/2010/main" val="23331175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1852EA0-BDE5-12FA-25C5-D9FBD5B33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Moje zkušenost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5482556-7B95-B953-77C2-533BA4B8BA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Začátek ve 14ti letech</a:t>
            </a:r>
          </a:p>
          <a:p>
            <a:r>
              <a:rPr lang="cs-CZ" dirty="0"/>
              <a:t>Skoro otrava</a:t>
            </a:r>
          </a:p>
          <a:p>
            <a:r>
              <a:rPr lang="cs-CZ" dirty="0"/>
              <a:t>Výdrž</a:t>
            </a:r>
          </a:p>
          <a:p>
            <a:r>
              <a:rPr lang="cs-CZ" dirty="0"/>
              <a:t>Jägermeister</a:t>
            </a:r>
          </a:p>
          <a:p>
            <a:r>
              <a:rPr lang="cs-CZ" dirty="0"/>
              <a:t>Fikce</a:t>
            </a:r>
          </a:p>
          <a:p>
            <a:endParaRPr lang="cs-CZ" dirty="0"/>
          </a:p>
        </p:txBody>
      </p:sp>
      <p:pic>
        <p:nvPicPr>
          <p:cNvPr id="15362" name="Picture 2">
            <a:extLst>
              <a:ext uri="{FF2B5EF4-FFF2-40B4-BE49-F238E27FC236}">
                <a16:creationId xmlns:a16="http://schemas.microsoft.com/office/drawing/2014/main" id="{BD421157-CAE5-912E-7EEB-D1D469B6C5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8766" y="63693"/>
            <a:ext cx="3228021" cy="43040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64" name="Picture 4">
            <a:extLst>
              <a:ext uri="{FF2B5EF4-FFF2-40B4-BE49-F238E27FC236}">
                <a16:creationId xmlns:a16="http://schemas.microsoft.com/office/drawing/2014/main" id="{216DE550-BE91-BE00-5D8E-1060906B5F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5722" y="2913096"/>
            <a:ext cx="2012797" cy="35797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66" name="Picture 6">
            <a:extLst>
              <a:ext uri="{FF2B5EF4-FFF2-40B4-BE49-F238E27FC236}">
                <a16:creationId xmlns:a16="http://schemas.microsoft.com/office/drawing/2014/main" id="{B7DBE723-3D4C-A6CA-15B1-F3A9C54D59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3474" y="2373549"/>
            <a:ext cx="2420019" cy="43040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40880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0EE0CF2-B6AB-94C9-F8FD-293783BE0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Konec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FA9C23E-E488-9D98-CA0C-7AA2A52C4A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Děkuji </a:t>
            </a:r>
            <a:r>
              <a:rPr lang="cs-CZ"/>
              <a:t>za pozornost</a:t>
            </a:r>
          </a:p>
        </p:txBody>
      </p:sp>
    </p:spTree>
    <p:extLst>
      <p:ext uri="{BB962C8B-B14F-4D97-AF65-F5344CB8AC3E}">
        <p14:creationId xmlns:p14="http://schemas.microsoft.com/office/powerpoint/2010/main" val="2747267617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479</Words>
  <Application>Microsoft Office PowerPoint</Application>
  <PresentationFormat>Širokoúhlá obrazovka</PresentationFormat>
  <Paragraphs>84</Paragraphs>
  <Slides>17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17</vt:i4>
      </vt:variant>
    </vt:vector>
  </HeadingPairs>
  <TitlesOfParts>
    <vt:vector size="22" baseType="lpstr">
      <vt:lpstr>Aptos</vt:lpstr>
      <vt:lpstr>Aptos Display</vt:lpstr>
      <vt:lpstr>Arial</vt:lpstr>
      <vt:lpstr>Calibri</vt:lpstr>
      <vt:lpstr>Motiv Office</vt:lpstr>
      <vt:lpstr>Alkohol</vt:lpstr>
      <vt:lpstr>Obsah</vt:lpstr>
      <vt:lpstr>Výroba</vt:lpstr>
      <vt:lpstr>Historie</vt:lpstr>
      <vt:lpstr>Složení</vt:lpstr>
      <vt:lpstr>Účinky</vt:lpstr>
      <vt:lpstr>Rizika</vt:lpstr>
      <vt:lpstr>Závislost</vt:lpstr>
      <vt:lpstr>Druhy</vt:lpstr>
      <vt:lpstr>Pivo</vt:lpstr>
      <vt:lpstr>Víno</vt:lpstr>
      <vt:lpstr>Tmavý alohol</vt:lpstr>
      <vt:lpstr>Světlý alkohol</vt:lpstr>
      <vt:lpstr>Český alkohol</vt:lpstr>
      <vt:lpstr>Rekordy</vt:lpstr>
      <vt:lpstr>Moje zkušenost</vt:lpstr>
      <vt:lpstr>Konec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Tomaš Podpleský</dc:creator>
  <cp:lastModifiedBy>Tomaš Podpleský</cp:lastModifiedBy>
  <cp:revision>1</cp:revision>
  <dcterms:created xsi:type="dcterms:W3CDTF">2025-01-15T17:04:12Z</dcterms:created>
  <dcterms:modified xsi:type="dcterms:W3CDTF">2025-01-15T18:55:40Z</dcterms:modified>
</cp:coreProperties>
</file>