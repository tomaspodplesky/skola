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17.xml" ContentType="application/vnd.openxmlformats-officedocument.presentationml.slide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8" r:id="rId12"/>
    <p:sldId id="266" r:id="rId13"/>
    <p:sldId id="271" r:id="rId14"/>
    <p:sldId id="272" r:id="rId15"/>
    <p:sldId id="273" r:id="rId16"/>
    <p:sldId id="269" r:id="rId17"/>
    <p:sldId id="270" r:id="rId18"/>
  </p:sldIdLst>
  <p:sldSz cx="9144000" cy="6858000" type="screen4x3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6" d="100"/>
          <a:sy n="106" d="100"/>
        </p:scale>
        <p:origin x="-112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cs-CZ" smtClean="0"/>
              <a:t>Klepnutím lze upravit styl předlohy nadpisů.</a:t>
            </a:r>
            <a:endParaRPr lang="cs-CZ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 smtClean="0"/>
              <a:t>Klepnutím lze upravit styl předlohy podnadpisů.</a:t>
            </a:r>
            <a:endParaRPr lang="cs-CZ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6A43D-3889-46A7-BE2F-C61B09E1D88C}" type="datetimeFigureOut">
              <a:rPr lang="cs-CZ" smtClean="0"/>
              <a:pPr/>
              <a:t>3.10.2020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D2ED8-1A18-4DEA-900C-B802C06CCA9D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Klepnutím lze upravit styl předlohy nadpisů.</a:t>
            </a:r>
            <a:endParaRPr lang="cs-CZ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 smtClean="0"/>
              <a:t>Klepnutím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6A43D-3889-46A7-BE2F-C61B09E1D88C}" type="datetimeFigureOut">
              <a:rPr lang="cs-CZ" smtClean="0"/>
              <a:pPr/>
              <a:t>3.10.2020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D2ED8-1A18-4DEA-900C-B802C06CCA9D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cs-CZ" smtClean="0"/>
              <a:t>Klepnutím lze upravit styl předlohy nadpisů.</a:t>
            </a:r>
            <a:endParaRPr lang="cs-CZ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 smtClean="0"/>
              <a:t>Klepnutím lze upravit styly předlohy textu.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6A43D-3889-46A7-BE2F-C61B09E1D88C}" type="datetimeFigureOut">
              <a:rPr lang="cs-CZ" smtClean="0"/>
              <a:pPr/>
              <a:t>3.10.2020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D2ED8-1A18-4DEA-900C-B802C06CCA9D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Klepnutím lze upravit styl předlohy nadpisů.</a:t>
            </a:r>
            <a:endParaRPr lang="cs-CZ"/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 smtClean="0"/>
              <a:t>Klepnutím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 smtClean="0"/>
              <a:t>Klepnutím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6A43D-3889-46A7-BE2F-C61B09E1D88C}" type="datetimeFigureOut">
              <a:rPr lang="cs-CZ" smtClean="0"/>
              <a:pPr/>
              <a:t>3.10.2020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D2ED8-1A18-4DEA-900C-B802C06CCA9D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smtClean="0"/>
              <a:t>Klepnutím lze upravit styl předlohy nadpisů.</a:t>
            </a:r>
            <a:endParaRPr lang="cs-CZ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smtClean="0"/>
              <a:t>Klepnutím lze upravit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smtClean="0"/>
              <a:t>Klepnutím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smtClean="0"/>
              <a:t>Klepnutím lze upravit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smtClean="0"/>
              <a:t>Klepnutím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6A43D-3889-46A7-BE2F-C61B09E1D88C}" type="datetimeFigureOut">
              <a:rPr lang="cs-CZ" smtClean="0"/>
              <a:pPr/>
              <a:t>3.10.2020</a:t>
            </a:fld>
            <a:endParaRPr lang="cs-CZ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D2ED8-1A18-4DEA-900C-B802C06CCA9D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Klepnutím lze upravit styl předlohy nadpisů.</a:t>
            </a:r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6A43D-3889-46A7-BE2F-C61B09E1D88C}" type="datetimeFigureOut">
              <a:rPr lang="cs-CZ" smtClean="0"/>
              <a:pPr/>
              <a:t>3.10.2020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D2ED8-1A18-4DEA-900C-B802C06CCA9D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6A43D-3889-46A7-BE2F-C61B09E1D88C}" type="datetimeFigureOut">
              <a:rPr lang="cs-CZ" smtClean="0"/>
              <a:pPr/>
              <a:t>3.10.2020</a:t>
            </a:fld>
            <a:endParaRPr lang="cs-CZ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D2ED8-1A18-4DEA-900C-B802C06CCA9D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 smtClean="0"/>
              <a:t>Klepnutím lze upravit styl předlohy nadpisů.</a:t>
            </a:r>
            <a:endParaRPr lang="cs-CZ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 smtClean="0"/>
              <a:t>Klepnutím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 smtClean="0"/>
              <a:t>Klepnutím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6A43D-3889-46A7-BE2F-C61B09E1D88C}" type="datetimeFigureOut">
              <a:rPr lang="cs-CZ" smtClean="0"/>
              <a:pPr/>
              <a:t>3.10.2020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D2ED8-1A18-4DEA-900C-B802C06CCA9D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 smtClean="0"/>
              <a:t>Klepnutím lze upravit styl předlohy nadpisů.</a:t>
            </a:r>
            <a:endParaRPr lang="cs-CZ"/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 smtClean="0"/>
              <a:t>Klepnutím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6A43D-3889-46A7-BE2F-C61B09E1D88C}" type="datetimeFigureOut">
              <a:rPr lang="cs-CZ" smtClean="0"/>
              <a:pPr/>
              <a:t>3.10.2020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D2ED8-1A18-4DEA-900C-B802C06CCA9D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Klepnutím lze upravit styl předlohy nadpisů.</a:t>
            </a:r>
            <a:endParaRPr lang="cs-CZ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 smtClean="0"/>
              <a:t>Klepnutím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6A43D-3889-46A7-BE2F-C61B09E1D88C}" type="datetimeFigureOut">
              <a:rPr lang="cs-CZ" smtClean="0"/>
              <a:pPr/>
              <a:t>3.10.2020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D2ED8-1A18-4DEA-900C-B802C06CCA9D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cs-CZ" smtClean="0"/>
              <a:t>Klepnutím lze upravit styl předlohy nadpisů.</a:t>
            </a:r>
            <a:endParaRPr lang="cs-CZ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cs-CZ" smtClean="0"/>
              <a:t>Klepnutím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6A43D-3889-46A7-BE2F-C61B09E1D88C}" type="datetimeFigureOut">
              <a:rPr lang="cs-CZ" smtClean="0"/>
              <a:pPr/>
              <a:t>3.10.2020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D2ED8-1A18-4DEA-900C-B802C06CCA9D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 smtClean="0"/>
              <a:t>Klepnutím lze upravit styl předlohy nadpisů.</a:t>
            </a:r>
            <a:endParaRPr lang="cs-CZ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 smtClean="0"/>
              <a:t>Klepnutím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16A43D-3889-46A7-BE2F-C61B09E1D88C}" type="datetimeFigureOut">
              <a:rPr lang="cs-CZ" smtClean="0"/>
              <a:pPr/>
              <a:t>3.10.2020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5D2ED8-1A18-4DEA-900C-B802C06CCA9D}" type="slidenum">
              <a:rPr lang="cs-CZ" smtClean="0"/>
              <a:pPr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BepAMlrJwXI" TargetMode="External"/><Relationship Id="rId2" Type="http://schemas.openxmlformats.org/officeDocument/2006/relationships/hyperlink" Target="https://www.youtube.com/watch?v=vujaGgBuKu8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youtube.com/watch?v=9uet6TNtUXI" TargetMode="External"/><Relationship Id="rId4" Type="http://schemas.openxmlformats.org/officeDocument/2006/relationships/hyperlink" Target="https://www.youtube.com/watch?v=HRvADApuyzA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79512" y="1124745"/>
            <a:ext cx="8712968" cy="2475706"/>
          </a:xfrm>
        </p:spPr>
        <p:txBody>
          <a:bodyPr>
            <a:normAutofit/>
          </a:bodyPr>
          <a:lstStyle/>
          <a:p>
            <a:r>
              <a:rPr lang="cs-CZ" b="1" dirty="0" smtClean="0"/>
              <a:t>Předmět </a:t>
            </a:r>
            <a:r>
              <a:rPr lang="cs-CZ" b="1" dirty="0" smtClean="0">
                <a:solidFill>
                  <a:srgbClr val="FF0000"/>
                </a:solidFill>
              </a:rPr>
              <a:t>TEF</a:t>
            </a:r>
            <a:r>
              <a:rPr lang="cs-CZ" b="1" dirty="0" smtClean="0"/>
              <a:t>:</a:t>
            </a:r>
            <a:br>
              <a:rPr lang="cs-CZ" b="1" dirty="0" smtClean="0"/>
            </a:br>
            <a:r>
              <a:rPr lang="cs-CZ" b="1" dirty="0" smtClean="0"/>
              <a:t> technická fyzika s obsahem</a:t>
            </a:r>
            <a:br>
              <a:rPr lang="cs-CZ" b="1" dirty="0" smtClean="0"/>
            </a:br>
            <a:r>
              <a:rPr lang="cs-CZ" b="1" dirty="0" smtClean="0">
                <a:solidFill>
                  <a:srgbClr val="FF0000"/>
                </a:solidFill>
              </a:rPr>
              <a:t>ELEKTROTECHNIKA (ELEKTRONIKA)</a:t>
            </a:r>
            <a:endParaRPr lang="cs-CZ" b="1" dirty="0">
              <a:solidFill>
                <a:srgbClr val="FF0000"/>
              </a:solidFill>
            </a:endParaRP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cs-CZ" sz="3600" b="1" dirty="0" smtClean="0">
                <a:solidFill>
                  <a:schemeClr val="tx1"/>
                </a:solidFill>
              </a:rPr>
              <a:t>ZÁKLADNÍ ROZDĚLENÍ A POJMY</a:t>
            </a:r>
            <a:endParaRPr lang="cs-CZ" sz="36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22114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r>
              <a:rPr lang="cs-CZ" b="1" dirty="0" smtClean="0"/>
              <a:t>PROČ SE UČIT ELEKTROTECHNIKU?</a:t>
            </a:r>
            <a:endParaRPr lang="cs-CZ" b="1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5544616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cs-CZ" dirty="0"/>
              <a:t>	</a:t>
            </a:r>
            <a:r>
              <a:rPr lang="cs-CZ" b="1" dirty="0" smtClean="0">
                <a:solidFill>
                  <a:srgbClr val="FF0000"/>
                </a:solidFill>
              </a:rPr>
              <a:t>1) Rozumět světu!</a:t>
            </a:r>
          </a:p>
          <a:p>
            <a:pPr>
              <a:buNone/>
            </a:pPr>
            <a:r>
              <a:rPr lang="cs-CZ" dirty="0"/>
              <a:t>	</a:t>
            </a:r>
            <a:r>
              <a:rPr lang="cs-CZ" sz="2000" b="1" i="1" dirty="0" smtClean="0">
                <a:solidFill>
                  <a:srgbClr val="00B050"/>
                </a:solidFill>
              </a:rPr>
              <a:t>Nebýt ekologický aktivista, který říká: „Já nepotřebuji elektrárnu, mně stačí zásuvka ve zdi“.</a:t>
            </a:r>
            <a:endParaRPr lang="cs-CZ" sz="2000" b="1" i="1" dirty="0">
              <a:solidFill>
                <a:srgbClr val="00B050"/>
              </a:solidFill>
            </a:endParaRPr>
          </a:p>
          <a:p>
            <a:pPr>
              <a:buNone/>
            </a:pPr>
            <a:r>
              <a:rPr lang="cs-CZ" dirty="0"/>
              <a:t>	</a:t>
            </a:r>
            <a:r>
              <a:rPr lang="cs-CZ" dirty="0" smtClean="0"/>
              <a:t>2) Vědět, jak věci fungují (domácí spotřebiče, vypínač na zdi, jak „nahodit“ pojistky a jističe).</a:t>
            </a:r>
          </a:p>
          <a:p>
            <a:pPr>
              <a:buNone/>
            </a:pPr>
            <a:r>
              <a:rPr lang="cs-CZ" dirty="0"/>
              <a:t>	</a:t>
            </a:r>
            <a:r>
              <a:rPr lang="cs-CZ" dirty="0" smtClean="0"/>
              <a:t>3) Umět jednoduché opravy elektroniky.</a:t>
            </a:r>
          </a:p>
          <a:p>
            <a:pPr>
              <a:buNone/>
            </a:pPr>
            <a:r>
              <a:rPr lang="cs-CZ" dirty="0"/>
              <a:t>	</a:t>
            </a:r>
            <a:r>
              <a:rPr lang="cs-CZ" dirty="0" smtClean="0"/>
              <a:t>4) Být připraven na „</a:t>
            </a:r>
            <a:r>
              <a:rPr lang="cs-CZ" dirty="0" err="1" smtClean="0"/>
              <a:t>blackout</a:t>
            </a:r>
            <a:r>
              <a:rPr lang="cs-CZ" dirty="0" smtClean="0"/>
              <a:t>“.</a:t>
            </a:r>
          </a:p>
          <a:p>
            <a:pPr>
              <a:buNone/>
            </a:pPr>
            <a:r>
              <a:rPr lang="cs-CZ" dirty="0"/>
              <a:t>	</a:t>
            </a:r>
            <a:r>
              <a:rPr lang="cs-CZ" dirty="0" smtClean="0"/>
              <a:t>5) Umět si navrhnout el. obvod, realizovat a používat (</a:t>
            </a:r>
            <a:r>
              <a:rPr lang="cs-CZ" dirty="0" err="1" smtClean="0"/>
              <a:t>plašička</a:t>
            </a:r>
            <a:r>
              <a:rPr lang="cs-CZ" dirty="0" smtClean="0"/>
              <a:t> na myši, čidlo, alarm atd.).</a:t>
            </a:r>
          </a:p>
          <a:p>
            <a:pPr>
              <a:buNone/>
            </a:pPr>
            <a:r>
              <a:rPr lang="cs-CZ" dirty="0"/>
              <a:t>	</a:t>
            </a:r>
            <a:r>
              <a:rPr lang="cs-CZ" dirty="0" smtClean="0"/>
              <a:t>6) Zachránit si život použitím zkoušečky.</a:t>
            </a:r>
          </a:p>
          <a:p>
            <a:pPr>
              <a:buNone/>
            </a:pPr>
            <a:r>
              <a:rPr lang="cs-CZ" dirty="0"/>
              <a:t>	</a:t>
            </a:r>
            <a:r>
              <a:rPr lang="cs-CZ" dirty="0" smtClean="0"/>
              <a:t>7) Živit se elektronikou.</a:t>
            </a:r>
          </a:p>
          <a:p>
            <a:pPr>
              <a:buNone/>
            </a:pPr>
            <a:r>
              <a:rPr lang="cs-CZ" dirty="0"/>
              <a:t>	</a:t>
            </a:r>
            <a:r>
              <a:rPr lang="cs-CZ" dirty="0" smtClean="0"/>
              <a:t>8) Umět zapojit LED diody na seznamovací akci Nulák </a:t>
            </a:r>
            <a:r>
              <a:rPr lang="cs-CZ" dirty="0" smtClean="0">
                <a:sym typeface="Wingdings" pitchFamily="2" charset="2"/>
              </a:rPr>
              <a:t>.</a:t>
            </a:r>
            <a:endParaRPr lang="cs-CZ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07504" y="274638"/>
            <a:ext cx="9036496" cy="1143000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cs-CZ" sz="4800" b="1" dirty="0" smtClean="0"/>
              <a:t>ZÁKLADNÍ VZTAH: OHMŮV ZÁKON</a:t>
            </a:r>
            <a:endParaRPr lang="cs-CZ" sz="4800" b="1" dirty="0"/>
          </a:p>
        </p:txBody>
      </p:sp>
      <p:pic>
        <p:nvPicPr>
          <p:cNvPr id="4098" name="Picture 2" descr="C:\Users\Milan\A Milan podle starého PC\skola\PRIPRAVY 2018\ELEKTRO\MILAN PRIPRAVY\FOTO OHMUV ZAKON\OHMUV zakon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59632" y="1484784"/>
            <a:ext cx="6912768" cy="518457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cs-CZ" sz="6600" b="1" dirty="0" smtClean="0"/>
              <a:t>ELEKTROTECHNIKA</a:t>
            </a:r>
            <a:endParaRPr lang="cs-CZ" sz="6600" b="1" dirty="0"/>
          </a:p>
        </p:txBody>
      </p:sp>
      <p:grpSp>
        <p:nvGrpSpPr>
          <p:cNvPr id="14" name="Skupina 13"/>
          <p:cNvGrpSpPr/>
          <p:nvPr/>
        </p:nvGrpSpPr>
        <p:grpSpPr>
          <a:xfrm>
            <a:off x="323528" y="1700808"/>
            <a:ext cx="6048672" cy="3341985"/>
            <a:chOff x="1403648" y="1916832"/>
            <a:chExt cx="6048672" cy="3341985"/>
          </a:xfrm>
        </p:grpSpPr>
        <p:sp>
          <p:nvSpPr>
            <p:cNvPr id="3" name="TextovéPole 2"/>
            <p:cNvSpPr txBox="1"/>
            <p:nvPr/>
          </p:nvSpPr>
          <p:spPr>
            <a:xfrm>
              <a:off x="1763688" y="1916832"/>
              <a:ext cx="5472608" cy="52322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cs-CZ" sz="2800" dirty="0" smtClean="0"/>
                <a:t>TEORETICKÁ (fyzikální principy)</a:t>
              </a:r>
              <a:endParaRPr lang="cs-CZ" sz="2800" dirty="0"/>
            </a:p>
          </p:txBody>
        </p:sp>
        <p:sp>
          <p:nvSpPr>
            <p:cNvPr id="4" name="TextovéPole 3"/>
            <p:cNvSpPr txBox="1"/>
            <p:nvPr/>
          </p:nvSpPr>
          <p:spPr>
            <a:xfrm>
              <a:off x="1691680" y="3356992"/>
              <a:ext cx="5544616" cy="52322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cs-CZ" sz="2800" dirty="0" smtClean="0"/>
                <a:t>TECHNICKÁ</a:t>
              </a:r>
              <a:r>
                <a:rPr lang="cs-CZ" sz="2000" dirty="0" smtClean="0"/>
                <a:t> </a:t>
              </a:r>
              <a:r>
                <a:rPr lang="cs-CZ" dirty="0" smtClean="0"/>
                <a:t>(na základě principů vyrábět součástky)</a:t>
              </a:r>
              <a:endParaRPr lang="cs-CZ" dirty="0"/>
            </a:p>
          </p:txBody>
        </p:sp>
        <p:sp>
          <p:nvSpPr>
            <p:cNvPr id="5" name="TextovéPole 4"/>
            <p:cNvSpPr txBox="1"/>
            <p:nvPr/>
          </p:nvSpPr>
          <p:spPr>
            <a:xfrm>
              <a:off x="1403648" y="4797152"/>
              <a:ext cx="6048672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cs-CZ" sz="2400" dirty="0" smtClean="0"/>
                <a:t>APLIKOVANÁ </a:t>
              </a:r>
              <a:r>
                <a:rPr lang="cs-CZ" dirty="0" smtClean="0"/>
                <a:t>(ze součástek sestavovat elektrické obvody)</a:t>
              </a:r>
              <a:endParaRPr lang="cs-CZ" dirty="0"/>
            </a:p>
          </p:txBody>
        </p:sp>
        <p:cxnSp>
          <p:nvCxnSpPr>
            <p:cNvPr id="7" name="Přímá spojovací šipka 6"/>
            <p:cNvCxnSpPr>
              <a:endCxn id="4" idx="0"/>
            </p:cNvCxnSpPr>
            <p:nvPr/>
          </p:nvCxnSpPr>
          <p:spPr>
            <a:xfrm>
              <a:off x="4463988" y="2492896"/>
              <a:ext cx="0" cy="864096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Přímá spojovací šipka 9"/>
            <p:cNvCxnSpPr/>
            <p:nvPr/>
          </p:nvCxnSpPr>
          <p:spPr>
            <a:xfrm>
              <a:off x="4427984" y="3933056"/>
              <a:ext cx="0" cy="864096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27" name="Picture 3" descr="C:\Users\Milan\Downloads\a 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660232" y="1484784"/>
            <a:ext cx="2043443" cy="2538239"/>
          </a:xfrm>
          <a:prstGeom prst="rect">
            <a:avLst/>
          </a:prstGeom>
          <a:noFill/>
        </p:spPr>
      </p:pic>
      <p:pic>
        <p:nvPicPr>
          <p:cNvPr id="1028" name="Picture 4" descr="C:\Users\Milan\Downloads\a 3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35696" y="5229200"/>
            <a:ext cx="5106169" cy="149110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cs-CZ" sz="5400" b="1" dirty="0" smtClean="0"/>
              <a:t>OBOR ELEKTROTECHNIKA</a:t>
            </a:r>
            <a:endParaRPr lang="cs-CZ" sz="5400" b="1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5069160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cs-CZ" dirty="0" smtClean="0"/>
              <a:t>	</a:t>
            </a:r>
            <a:r>
              <a:rPr lang="cs-CZ" b="1" u="sng" dirty="0" smtClean="0"/>
              <a:t>SLABOPROUD:</a:t>
            </a:r>
          </a:p>
          <a:p>
            <a:r>
              <a:rPr lang="cs-CZ" dirty="0"/>
              <a:t>e</a:t>
            </a:r>
            <a:r>
              <a:rPr lang="cs-CZ" dirty="0" smtClean="0"/>
              <a:t>lektronika</a:t>
            </a:r>
          </a:p>
          <a:p>
            <a:r>
              <a:rPr lang="cs-CZ" dirty="0" smtClean="0"/>
              <a:t>přenos a zpracování signálu</a:t>
            </a:r>
          </a:p>
          <a:p>
            <a:r>
              <a:rPr lang="cs-CZ" dirty="0" smtClean="0"/>
              <a:t>nižší výkony</a:t>
            </a:r>
          </a:p>
          <a:p>
            <a:r>
              <a:rPr lang="cs-CZ" b="1" u="sng" dirty="0" smtClean="0"/>
              <a:t>Dělení (např.):</a:t>
            </a:r>
          </a:p>
          <a:p>
            <a:r>
              <a:rPr lang="cs-CZ" dirty="0" smtClean="0"/>
              <a:t>SDĚLOVACÍ TECHNIKA</a:t>
            </a:r>
          </a:p>
          <a:p>
            <a:r>
              <a:rPr lang="cs-CZ" dirty="0" smtClean="0"/>
              <a:t>ZABEZPEČOVACÍ TECHNIKA</a:t>
            </a:r>
          </a:p>
          <a:p>
            <a:r>
              <a:rPr lang="cs-CZ" dirty="0" smtClean="0"/>
              <a:t>AUTOMATIZACE</a:t>
            </a:r>
          </a:p>
          <a:p>
            <a:r>
              <a:rPr lang="cs-CZ" dirty="0" smtClean="0"/>
              <a:t>TELEMATIKA</a:t>
            </a:r>
          </a:p>
          <a:p>
            <a:r>
              <a:rPr lang="cs-CZ" dirty="0" smtClean="0"/>
              <a:t>ICT</a:t>
            </a:r>
          </a:p>
          <a:p>
            <a:r>
              <a:rPr lang="cs-CZ" dirty="0" smtClean="0"/>
              <a:t>ČÍSLICOVÁ TECHNIKA</a:t>
            </a:r>
          </a:p>
          <a:p>
            <a:pPr>
              <a:buNone/>
            </a:pPr>
            <a:endParaRPr lang="cs-CZ" dirty="0" smtClean="0"/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cs-CZ" dirty="0" smtClean="0"/>
              <a:t>	</a:t>
            </a:r>
            <a:r>
              <a:rPr lang="cs-CZ" b="1" u="sng" dirty="0" smtClean="0"/>
              <a:t>SILNOPROUD:</a:t>
            </a:r>
          </a:p>
          <a:p>
            <a:r>
              <a:rPr lang="cs-CZ" dirty="0" smtClean="0"/>
              <a:t>elektrotechnika</a:t>
            </a:r>
          </a:p>
          <a:p>
            <a:r>
              <a:rPr lang="cs-CZ" dirty="0" smtClean="0"/>
              <a:t>výroba a přenos (vedení)</a:t>
            </a:r>
          </a:p>
          <a:p>
            <a:r>
              <a:rPr lang="cs-CZ" dirty="0" smtClean="0"/>
              <a:t>motory</a:t>
            </a:r>
          </a:p>
          <a:p>
            <a:r>
              <a:rPr lang="cs-CZ" dirty="0" smtClean="0"/>
              <a:t>transformátory</a:t>
            </a:r>
          </a:p>
          <a:p>
            <a:r>
              <a:rPr lang="cs-CZ" dirty="0"/>
              <a:t>p</a:t>
            </a:r>
            <a:r>
              <a:rPr lang="cs-CZ" dirty="0" smtClean="0"/>
              <a:t>ohony, vytápění, osvětlení</a:t>
            </a:r>
          </a:p>
          <a:p>
            <a:r>
              <a:rPr lang="cs-CZ" dirty="0" smtClean="0"/>
              <a:t>VÝKONOVÁ ELEKTROTECHNIKA: vyšší výkony (A, V, W)</a:t>
            </a:r>
            <a:endParaRPr lang="cs-CZ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cs-CZ" sz="5400" b="1" dirty="0" smtClean="0"/>
              <a:t>ELEKTRONIKA - ÚROVEŇ</a:t>
            </a:r>
            <a:endParaRPr lang="cs-CZ" sz="5400" b="1" dirty="0"/>
          </a:p>
        </p:txBody>
      </p:sp>
      <p:grpSp>
        <p:nvGrpSpPr>
          <p:cNvPr id="23" name="Skupina 22"/>
          <p:cNvGrpSpPr/>
          <p:nvPr/>
        </p:nvGrpSpPr>
        <p:grpSpPr>
          <a:xfrm>
            <a:off x="683568" y="1916832"/>
            <a:ext cx="7704856" cy="4263573"/>
            <a:chOff x="611560" y="1916832"/>
            <a:chExt cx="7704856" cy="4263573"/>
          </a:xfrm>
        </p:grpSpPr>
        <p:sp>
          <p:nvSpPr>
            <p:cNvPr id="3" name="TextovéPole 2"/>
            <p:cNvSpPr txBox="1"/>
            <p:nvPr/>
          </p:nvSpPr>
          <p:spPr>
            <a:xfrm>
              <a:off x="1187624" y="1916832"/>
              <a:ext cx="2664296" cy="3693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cs-CZ" b="1" dirty="0" smtClean="0"/>
                <a:t>KONÍČEK (HOBBY)</a:t>
              </a:r>
              <a:endParaRPr lang="cs-CZ" b="1" dirty="0"/>
            </a:p>
          </p:txBody>
        </p:sp>
        <p:sp>
          <p:nvSpPr>
            <p:cNvPr id="4" name="TextovéPole 3"/>
            <p:cNvSpPr txBox="1"/>
            <p:nvPr/>
          </p:nvSpPr>
          <p:spPr>
            <a:xfrm>
              <a:off x="611560" y="2852936"/>
              <a:ext cx="1656184" cy="92333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cs-CZ" b="1" dirty="0" smtClean="0"/>
                <a:t>AMATÉRSKÁ ÚROVEŇ </a:t>
              </a:r>
              <a:r>
                <a:rPr lang="cs-CZ" dirty="0" smtClean="0"/>
                <a:t>(</a:t>
              </a:r>
              <a:r>
                <a:rPr lang="cs-CZ" dirty="0" err="1" smtClean="0"/>
                <a:t>bastlení</a:t>
              </a:r>
              <a:r>
                <a:rPr lang="cs-CZ" dirty="0" smtClean="0"/>
                <a:t>)</a:t>
              </a:r>
              <a:endParaRPr lang="cs-CZ" dirty="0"/>
            </a:p>
          </p:txBody>
        </p:sp>
        <p:sp>
          <p:nvSpPr>
            <p:cNvPr id="5" name="TextovéPole 4"/>
            <p:cNvSpPr txBox="1"/>
            <p:nvPr/>
          </p:nvSpPr>
          <p:spPr>
            <a:xfrm>
              <a:off x="2843808" y="2852936"/>
              <a:ext cx="1656184" cy="64633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cs-CZ" b="1" dirty="0" smtClean="0"/>
                <a:t>PROFI PROVEDENÍ</a:t>
              </a:r>
              <a:endParaRPr lang="cs-CZ" b="1" dirty="0"/>
            </a:p>
          </p:txBody>
        </p:sp>
        <p:sp>
          <p:nvSpPr>
            <p:cNvPr id="6" name="TextovéPole 5"/>
            <p:cNvSpPr txBox="1"/>
            <p:nvPr/>
          </p:nvSpPr>
          <p:spPr>
            <a:xfrm>
              <a:off x="611560" y="4149080"/>
              <a:ext cx="1728192" cy="203132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cs-CZ" dirty="0" smtClean="0"/>
                <a:t>Výměna žárovky</a:t>
              </a:r>
            </a:p>
            <a:p>
              <a:r>
                <a:rPr lang="cs-CZ" dirty="0" smtClean="0"/>
                <a:t>Pájení drátů</a:t>
              </a:r>
            </a:p>
            <a:p>
              <a:r>
                <a:rPr lang="cs-CZ" dirty="0" smtClean="0"/>
                <a:t>Výroba jednoduchých zařízení (</a:t>
              </a:r>
              <a:r>
                <a:rPr lang="cs-CZ" dirty="0" err="1" smtClean="0"/>
                <a:t>plašička</a:t>
              </a:r>
              <a:r>
                <a:rPr lang="cs-CZ" dirty="0" smtClean="0"/>
                <a:t> na myši apod.)</a:t>
              </a:r>
              <a:endParaRPr lang="cs-CZ" dirty="0"/>
            </a:p>
          </p:txBody>
        </p:sp>
        <p:sp>
          <p:nvSpPr>
            <p:cNvPr id="7" name="TextovéPole 6"/>
            <p:cNvSpPr txBox="1"/>
            <p:nvPr/>
          </p:nvSpPr>
          <p:spPr>
            <a:xfrm>
              <a:off x="2843808" y="4149080"/>
              <a:ext cx="1728192" cy="203132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cs-CZ" dirty="0" smtClean="0"/>
                <a:t>Zesilovače</a:t>
              </a:r>
            </a:p>
            <a:p>
              <a:r>
                <a:rPr lang="cs-CZ" dirty="0" smtClean="0"/>
                <a:t>Barevná hudba</a:t>
              </a:r>
            </a:p>
            <a:p>
              <a:r>
                <a:rPr lang="cs-CZ" dirty="0" smtClean="0"/>
                <a:t>Zdroje</a:t>
              </a:r>
            </a:p>
            <a:p>
              <a:r>
                <a:rPr lang="cs-CZ" dirty="0" smtClean="0"/>
                <a:t>Sondy</a:t>
              </a:r>
            </a:p>
            <a:p>
              <a:r>
                <a:rPr lang="cs-CZ" dirty="0" err="1" smtClean="0"/>
                <a:t>Arduino</a:t>
              </a:r>
              <a:r>
                <a:rPr lang="cs-CZ" dirty="0" smtClean="0"/>
                <a:t> (PLC)</a:t>
              </a:r>
            </a:p>
            <a:p>
              <a:r>
                <a:rPr lang="cs-CZ" dirty="0" err="1" smtClean="0"/>
                <a:t>IoT</a:t>
              </a:r>
              <a:r>
                <a:rPr lang="cs-CZ" dirty="0" smtClean="0"/>
                <a:t> (internet věcí)</a:t>
              </a:r>
              <a:endParaRPr lang="cs-CZ" dirty="0"/>
            </a:p>
          </p:txBody>
        </p:sp>
        <p:sp>
          <p:nvSpPr>
            <p:cNvPr id="8" name="TextovéPole 7"/>
            <p:cNvSpPr txBox="1"/>
            <p:nvPr/>
          </p:nvSpPr>
          <p:spPr>
            <a:xfrm>
              <a:off x="5724128" y="1916832"/>
              <a:ext cx="2520280" cy="3693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cs-CZ" b="1" dirty="0" smtClean="0"/>
                <a:t>PRŮMYSLOVÁ VÝROBA</a:t>
              </a:r>
              <a:endParaRPr lang="cs-CZ" b="1" dirty="0"/>
            </a:p>
          </p:txBody>
        </p:sp>
        <p:sp>
          <p:nvSpPr>
            <p:cNvPr id="9" name="TextovéPole 8"/>
            <p:cNvSpPr txBox="1"/>
            <p:nvPr/>
          </p:nvSpPr>
          <p:spPr>
            <a:xfrm>
              <a:off x="6012160" y="2852936"/>
              <a:ext cx="2304256" cy="147732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cs-CZ" dirty="0" smtClean="0"/>
                <a:t>Výroba plošných spojů a desek elektrických obvodů na průmyslových robotech</a:t>
              </a:r>
              <a:endParaRPr lang="cs-CZ" dirty="0"/>
            </a:p>
          </p:txBody>
        </p:sp>
        <p:cxnSp>
          <p:nvCxnSpPr>
            <p:cNvPr id="10" name="Přímá spojovací šipka 9"/>
            <p:cNvCxnSpPr/>
            <p:nvPr/>
          </p:nvCxnSpPr>
          <p:spPr>
            <a:xfrm>
              <a:off x="3563888" y="3501008"/>
              <a:ext cx="0" cy="64807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Přímá spojovací šipka 11"/>
            <p:cNvCxnSpPr/>
            <p:nvPr/>
          </p:nvCxnSpPr>
          <p:spPr>
            <a:xfrm>
              <a:off x="7020272" y="2276872"/>
              <a:ext cx="0" cy="57606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Přímá spojovací šipka 13"/>
            <p:cNvCxnSpPr/>
            <p:nvPr/>
          </p:nvCxnSpPr>
          <p:spPr>
            <a:xfrm>
              <a:off x="1403648" y="2564904"/>
              <a:ext cx="0" cy="28803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Přímá spojovací šipka 15"/>
            <p:cNvCxnSpPr/>
            <p:nvPr/>
          </p:nvCxnSpPr>
          <p:spPr>
            <a:xfrm>
              <a:off x="1331640" y="3789040"/>
              <a:ext cx="0" cy="36004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Přímá spojovací šipka 18"/>
            <p:cNvCxnSpPr/>
            <p:nvPr/>
          </p:nvCxnSpPr>
          <p:spPr>
            <a:xfrm>
              <a:off x="3635896" y="2564904"/>
              <a:ext cx="0" cy="28803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Přímá spojovací šipka 19"/>
            <p:cNvCxnSpPr/>
            <p:nvPr/>
          </p:nvCxnSpPr>
          <p:spPr>
            <a:xfrm>
              <a:off x="2267744" y="2276872"/>
              <a:ext cx="0" cy="28803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Přímá spojovací čára 21"/>
            <p:cNvCxnSpPr/>
            <p:nvPr/>
          </p:nvCxnSpPr>
          <p:spPr>
            <a:xfrm>
              <a:off x="1403648" y="2564904"/>
              <a:ext cx="2232248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r>
              <a:rPr lang="cs-CZ" b="1" dirty="0" smtClean="0"/>
              <a:t>STRUKTURA (CO OBSAHUJE CO)</a:t>
            </a:r>
            <a:endParaRPr lang="cs-CZ" b="1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251520" y="1700808"/>
            <a:ext cx="6131024" cy="4525963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cs-CZ" dirty="0" smtClean="0"/>
              <a:t>	</a:t>
            </a:r>
            <a:r>
              <a:rPr lang="cs-CZ" b="1" dirty="0" smtClean="0"/>
              <a:t>ELEKTRICKÉ </a:t>
            </a:r>
            <a:r>
              <a:rPr lang="cs-CZ" b="1" dirty="0" smtClean="0">
                <a:solidFill>
                  <a:srgbClr val="0070C0"/>
                </a:solidFill>
              </a:rPr>
              <a:t>ZAŘÍZENÍ</a:t>
            </a:r>
            <a:r>
              <a:rPr lang="cs-CZ" dirty="0" smtClean="0"/>
              <a:t> obsahuje</a:t>
            </a:r>
          </a:p>
          <a:p>
            <a:pPr>
              <a:buNone/>
            </a:pPr>
            <a:r>
              <a:rPr lang="cs-CZ" dirty="0"/>
              <a:t>	</a:t>
            </a:r>
            <a:r>
              <a:rPr lang="cs-CZ" b="1" dirty="0" smtClean="0"/>
              <a:t>ELEKTRICKÝ</a:t>
            </a:r>
            <a:r>
              <a:rPr lang="cs-CZ" b="1" dirty="0" smtClean="0">
                <a:solidFill>
                  <a:srgbClr val="0070C0"/>
                </a:solidFill>
              </a:rPr>
              <a:t> OBVOD.</a:t>
            </a:r>
          </a:p>
          <a:p>
            <a:pPr>
              <a:buNone/>
            </a:pPr>
            <a:r>
              <a:rPr lang="cs-CZ" dirty="0"/>
              <a:t>	</a:t>
            </a:r>
            <a:r>
              <a:rPr lang="cs-CZ" dirty="0" smtClean="0"/>
              <a:t>Elektrický obvod je spojení elektronických součástek se zdrojem elektrické energie.</a:t>
            </a:r>
          </a:p>
          <a:p>
            <a:pPr>
              <a:buNone/>
            </a:pPr>
            <a:r>
              <a:rPr lang="cs-CZ" dirty="0"/>
              <a:t>	</a:t>
            </a:r>
            <a:r>
              <a:rPr lang="cs-CZ" b="1" dirty="0" smtClean="0">
                <a:solidFill>
                  <a:srgbClr val="FF0000"/>
                </a:solidFill>
              </a:rPr>
              <a:t>Elektrický proud prochází, jen když je obvod UZAVŘEN.</a:t>
            </a:r>
            <a:endParaRPr lang="cs-CZ" b="1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cs-CZ" b="1" dirty="0" smtClean="0"/>
              <a:t>	Elektrický obvod obsahuje: </a:t>
            </a:r>
            <a:r>
              <a:rPr lang="cs-CZ" b="1" dirty="0" smtClean="0">
                <a:solidFill>
                  <a:srgbClr val="0070C0"/>
                </a:solidFill>
              </a:rPr>
              <a:t>obvodové součástky a obvodové veličiny</a:t>
            </a:r>
            <a:r>
              <a:rPr lang="cs-CZ" b="1" dirty="0" smtClean="0"/>
              <a:t> (např. I, U, …)</a:t>
            </a:r>
            <a:endParaRPr lang="cs-CZ" b="1" dirty="0"/>
          </a:p>
        </p:txBody>
      </p:sp>
      <p:pic>
        <p:nvPicPr>
          <p:cNvPr id="5122" name="Picture 2" descr="C:\Users\Milan\Downloads\A 9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732240" y="2924944"/>
            <a:ext cx="1979712" cy="1484784"/>
          </a:xfrm>
          <a:prstGeom prst="rect">
            <a:avLst/>
          </a:prstGeom>
          <a:noFill/>
        </p:spPr>
      </p:pic>
      <p:pic>
        <p:nvPicPr>
          <p:cNvPr id="5123" name="Picture 3" descr="C:\Users\Milan\Downloads\A 10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300192" y="4653136"/>
            <a:ext cx="2627784" cy="197083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cs-CZ" sz="5400" b="1" dirty="0" smtClean="0"/>
              <a:t>ELEKTRONICKÉ SOUČÁSTKY</a:t>
            </a:r>
            <a:endParaRPr lang="cs-CZ" sz="5400" b="1" dirty="0"/>
          </a:p>
        </p:txBody>
      </p:sp>
      <p:sp>
        <p:nvSpPr>
          <p:cNvPr id="3" name="TextovéPole 2"/>
          <p:cNvSpPr txBox="1"/>
          <p:nvPr/>
        </p:nvSpPr>
        <p:spPr>
          <a:xfrm>
            <a:off x="683568" y="1988840"/>
            <a:ext cx="1872208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cs-CZ" b="1" dirty="0" smtClean="0"/>
              <a:t>PASIVNÍ</a:t>
            </a:r>
            <a:endParaRPr lang="cs-CZ" b="1" dirty="0"/>
          </a:p>
        </p:txBody>
      </p:sp>
      <p:sp>
        <p:nvSpPr>
          <p:cNvPr id="4" name="TextovéPole 3"/>
          <p:cNvSpPr txBox="1"/>
          <p:nvPr/>
        </p:nvSpPr>
        <p:spPr>
          <a:xfrm>
            <a:off x="3707904" y="1988840"/>
            <a:ext cx="2160240" cy="36933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cs-CZ" b="1" dirty="0" smtClean="0"/>
              <a:t>AKTIVNÍ</a:t>
            </a:r>
            <a:endParaRPr lang="cs-CZ" b="1" dirty="0"/>
          </a:p>
        </p:txBody>
      </p:sp>
      <p:sp>
        <p:nvSpPr>
          <p:cNvPr id="5" name="TextovéPole 4"/>
          <p:cNvSpPr txBox="1"/>
          <p:nvPr/>
        </p:nvSpPr>
        <p:spPr>
          <a:xfrm>
            <a:off x="6660232" y="1988840"/>
            <a:ext cx="1944216" cy="36933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cs-CZ" b="1" dirty="0" smtClean="0"/>
              <a:t>KONSTRUKČNÍ</a:t>
            </a:r>
            <a:endParaRPr lang="cs-CZ" b="1" dirty="0"/>
          </a:p>
        </p:txBody>
      </p:sp>
      <p:sp>
        <p:nvSpPr>
          <p:cNvPr id="6" name="TextovéPole 5"/>
          <p:cNvSpPr txBox="1"/>
          <p:nvPr/>
        </p:nvSpPr>
        <p:spPr>
          <a:xfrm>
            <a:off x="683568" y="2564904"/>
            <a:ext cx="1944216" cy="378565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cs-CZ" sz="1600" b="1" dirty="0" smtClean="0"/>
              <a:t>Elektrické vlastnosti stálé a v širokých mezích nezávislé na přiváděném U a I.</a:t>
            </a:r>
          </a:p>
          <a:p>
            <a:pPr>
              <a:buFontTx/>
              <a:buChar char="-"/>
            </a:pPr>
            <a:r>
              <a:rPr lang="cs-CZ" sz="1600" dirty="0" smtClean="0"/>
              <a:t> rezistory</a:t>
            </a:r>
          </a:p>
          <a:p>
            <a:pPr>
              <a:buFontTx/>
              <a:buChar char="-"/>
            </a:pPr>
            <a:r>
              <a:rPr lang="cs-CZ" sz="1600" dirty="0" smtClean="0"/>
              <a:t> kondenzátory</a:t>
            </a:r>
          </a:p>
          <a:p>
            <a:pPr>
              <a:buFontTx/>
              <a:buChar char="-"/>
            </a:pPr>
            <a:r>
              <a:rPr lang="cs-CZ" sz="1600" dirty="0"/>
              <a:t> </a:t>
            </a:r>
            <a:r>
              <a:rPr lang="cs-CZ" sz="1600" dirty="0" smtClean="0"/>
              <a:t>cívky</a:t>
            </a:r>
          </a:p>
          <a:p>
            <a:pPr>
              <a:buFontTx/>
              <a:buChar char="-"/>
            </a:pPr>
            <a:r>
              <a:rPr lang="cs-CZ" sz="1600" dirty="0"/>
              <a:t> </a:t>
            </a:r>
            <a:r>
              <a:rPr lang="cs-CZ" sz="1600" dirty="0" smtClean="0"/>
              <a:t>potenciometry</a:t>
            </a:r>
          </a:p>
          <a:p>
            <a:pPr>
              <a:buFontTx/>
              <a:buChar char="-"/>
            </a:pPr>
            <a:r>
              <a:rPr lang="cs-CZ" sz="1600" dirty="0"/>
              <a:t> </a:t>
            </a:r>
            <a:r>
              <a:rPr lang="cs-CZ" sz="1600" dirty="0" smtClean="0"/>
              <a:t>pojistky atd.</a:t>
            </a:r>
          </a:p>
          <a:p>
            <a:r>
              <a:rPr lang="cs-CZ" sz="1600" dirty="0" smtClean="0"/>
              <a:t>El. energie se mění v energii jiného typu (teplo), nebo se ukládá (akumuluje) a může být dodána zpět.</a:t>
            </a:r>
            <a:endParaRPr lang="cs-CZ" dirty="0"/>
          </a:p>
        </p:txBody>
      </p:sp>
      <p:sp>
        <p:nvSpPr>
          <p:cNvPr id="7" name="TextovéPole 6"/>
          <p:cNvSpPr txBox="1"/>
          <p:nvPr/>
        </p:nvSpPr>
        <p:spPr>
          <a:xfrm>
            <a:off x="3779912" y="2636912"/>
            <a:ext cx="2016224" cy="3970318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cs-CZ" b="1" dirty="0" smtClean="0"/>
              <a:t>Elektrické vlastnosti jsou proměnné a řiditelné změnou U a I.</a:t>
            </a:r>
          </a:p>
          <a:p>
            <a:pPr>
              <a:buFontTx/>
              <a:buChar char="-"/>
            </a:pPr>
            <a:r>
              <a:rPr lang="cs-CZ" dirty="0" smtClean="0"/>
              <a:t> tranzistory</a:t>
            </a:r>
          </a:p>
          <a:p>
            <a:pPr>
              <a:buFontTx/>
              <a:buChar char="-"/>
            </a:pPr>
            <a:r>
              <a:rPr lang="cs-CZ" dirty="0"/>
              <a:t> </a:t>
            </a:r>
            <a:r>
              <a:rPr lang="cs-CZ" dirty="0" err="1" smtClean="0"/>
              <a:t>diak</a:t>
            </a:r>
            <a:endParaRPr lang="cs-CZ" dirty="0" smtClean="0"/>
          </a:p>
          <a:p>
            <a:pPr>
              <a:buFontTx/>
              <a:buChar char="-"/>
            </a:pPr>
            <a:r>
              <a:rPr lang="cs-CZ" dirty="0"/>
              <a:t> </a:t>
            </a:r>
            <a:r>
              <a:rPr lang="cs-CZ" dirty="0" smtClean="0"/>
              <a:t>tyristor atd.</a:t>
            </a:r>
          </a:p>
          <a:p>
            <a:r>
              <a:rPr lang="cs-CZ" dirty="0" smtClean="0"/>
              <a:t>Součástky jsou zdrojem el. energie, nebo se jako zdroj chovají (tranzistor ZESILUJE el. signál)</a:t>
            </a:r>
            <a:endParaRPr lang="cs-CZ" dirty="0"/>
          </a:p>
        </p:txBody>
      </p:sp>
      <p:sp>
        <p:nvSpPr>
          <p:cNvPr id="8" name="TextovéPole 7"/>
          <p:cNvSpPr txBox="1"/>
          <p:nvPr/>
        </p:nvSpPr>
        <p:spPr>
          <a:xfrm>
            <a:off x="6660232" y="2708920"/>
            <a:ext cx="1944216" cy="3139321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cs-CZ" dirty="0" smtClean="0"/>
              <a:t>Skříně (bedny)</a:t>
            </a:r>
          </a:p>
          <a:p>
            <a:r>
              <a:rPr lang="cs-CZ" dirty="0" smtClean="0"/>
              <a:t>Ovládací prvky</a:t>
            </a:r>
          </a:p>
          <a:p>
            <a:r>
              <a:rPr lang="cs-CZ" dirty="0" smtClean="0"/>
              <a:t>Svorkovnice</a:t>
            </a:r>
          </a:p>
          <a:p>
            <a:r>
              <a:rPr lang="cs-CZ" dirty="0" smtClean="0"/>
              <a:t>Konektory</a:t>
            </a:r>
          </a:p>
          <a:p>
            <a:r>
              <a:rPr lang="cs-CZ" dirty="0" smtClean="0"/>
              <a:t>Přepínače</a:t>
            </a:r>
          </a:p>
          <a:p>
            <a:r>
              <a:rPr lang="cs-CZ" dirty="0" smtClean="0"/>
              <a:t>Motory, relé</a:t>
            </a:r>
          </a:p>
          <a:p>
            <a:r>
              <a:rPr lang="cs-CZ" dirty="0" smtClean="0"/>
              <a:t>Reproduktory atd.</a:t>
            </a:r>
          </a:p>
          <a:p>
            <a:r>
              <a:rPr lang="cs-CZ" dirty="0" smtClean="0"/>
              <a:t>-----</a:t>
            </a:r>
          </a:p>
          <a:p>
            <a:r>
              <a:rPr lang="cs-CZ" dirty="0" smtClean="0"/>
              <a:t>cín, pasta, kalafuna, laky, lepidla apod.</a:t>
            </a:r>
            <a:endParaRPr lang="cs-CZ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cs-CZ" b="1" dirty="0" smtClean="0"/>
              <a:t>ELEKTRONICKÉ SOUČÁSTKY:</a:t>
            </a:r>
            <a:br>
              <a:rPr lang="cs-CZ" b="1" dirty="0" smtClean="0"/>
            </a:br>
            <a:r>
              <a:rPr lang="cs-CZ" b="1" dirty="0" smtClean="0"/>
              <a:t>DALŠÍ DĚLENÍ</a:t>
            </a:r>
            <a:endParaRPr lang="cs-CZ" b="1" dirty="0"/>
          </a:p>
        </p:txBody>
      </p:sp>
      <p:grpSp>
        <p:nvGrpSpPr>
          <p:cNvPr id="9" name="Skupina 8"/>
          <p:cNvGrpSpPr/>
          <p:nvPr/>
        </p:nvGrpSpPr>
        <p:grpSpPr>
          <a:xfrm>
            <a:off x="827584" y="1628800"/>
            <a:ext cx="7681256" cy="4723978"/>
            <a:chOff x="827584" y="1628800"/>
            <a:chExt cx="7681256" cy="4723978"/>
          </a:xfrm>
        </p:grpSpPr>
        <p:pic>
          <p:nvPicPr>
            <p:cNvPr id="2050" name="Picture 2" descr="C:\Users\Milan\Downloads\a 4.jpg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6084168" y="1628800"/>
              <a:ext cx="2424672" cy="1818504"/>
            </a:xfrm>
            <a:prstGeom prst="rect">
              <a:avLst/>
            </a:prstGeom>
            <a:noFill/>
          </p:spPr>
        </p:pic>
        <p:sp>
          <p:nvSpPr>
            <p:cNvPr id="4" name="TextovéPole 3"/>
            <p:cNvSpPr txBox="1"/>
            <p:nvPr/>
          </p:nvSpPr>
          <p:spPr>
            <a:xfrm>
              <a:off x="971600" y="2060848"/>
              <a:ext cx="4104456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cs-CZ" sz="2400" b="1" dirty="0" smtClean="0"/>
                <a:t>1) DVOUPÓL (JEDNOBRAN)</a:t>
              </a:r>
              <a:endParaRPr lang="cs-CZ" sz="2400" b="1" dirty="0"/>
            </a:p>
          </p:txBody>
        </p:sp>
        <p:pic>
          <p:nvPicPr>
            <p:cNvPr id="2051" name="Picture 3" descr="C:\Users\Milan\Downloads\A 6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6156176" y="3501008"/>
              <a:ext cx="2091889" cy="1157512"/>
            </a:xfrm>
            <a:prstGeom prst="rect">
              <a:avLst/>
            </a:prstGeom>
            <a:noFill/>
          </p:spPr>
        </p:pic>
        <p:sp>
          <p:nvSpPr>
            <p:cNvPr id="6" name="TextovéPole 5"/>
            <p:cNvSpPr txBox="1"/>
            <p:nvPr/>
          </p:nvSpPr>
          <p:spPr>
            <a:xfrm>
              <a:off x="827584" y="3645024"/>
              <a:ext cx="4320480" cy="70788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cs-CZ" sz="2000" b="1" dirty="0" smtClean="0"/>
                <a:t>2) ČTYŘPÓL (DVOJBRAN = vstupní a výstupní brána: 4 svorky)</a:t>
              </a:r>
              <a:endParaRPr lang="cs-CZ" sz="2000" b="1" dirty="0"/>
            </a:p>
          </p:txBody>
        </p:sp>
        <p:sp>
          <p:nvSpPr>
            <p:cNvPr id="7" name="TextovéPole 6"/>
            <p:cNvSpPr txBox="1"/>
            <p:nvPr/>
          </p:nvSpPr>
          <p:spPr>
            <a:xfrm>
              <a:off x="827584" y="5589240"/>
              <a:ext cx="4392488" cy="40011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cs-CZ" sz="2000" b="1" dirty="0" smtClean="0"/>
                <a:t>3) VÍCEPÓL (např. integrované obvody)</a:t>
              </a:r>
              <a:endParaRPr lang="cs-CZ" sz="2000" b="1" dirty="0"/>
            </a:p>
          </p:txBody>
        </p:sp>
        <p:pic>
          <p:nvPicPr>
            <p:cNvPr id="2052" name="Picture 4" descr="C:\Users\Milan\Downloads\a 5.jpg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6300192" y="5229200"/>
              <a:ext cx="1905854" cy="1123578"/>
            </a:xfrm>
            <a:prstGeom prst="rect">
              <a:avLst/>
            </a:prstGeom>
            <a:noFill/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8568952" cy="864096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r>
              <a:rPr lang="cs-CZ" b="1" dirty="0" smtClean="0"/>
              <a:t>VOLTAMPÉROVÁ CHARAKTERISTIKA</a:t>
            </a:r>
            <a:endParaRPr lang="cs-CZ" b="1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467544" y="1124745"/>
            <a:ext cx="4038600" cy="2808312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cs-CZ" dirty="0" smtClean="0"/>
              <a:t>	</a:t>
            </a:r>
            <a:r>
              <a:rPr lang="cs-CZ" b="1" dirty="0" smtClean="0"/>
              <a:t>1) LINEÁRNÍ:</a:t>
            </a:r>
          </a:p>
          <a:p>
            <a:pPr>
              <a:buNone/>
            </a:pPr>
            <a:r>
              <a:rPr lang="cs-CZ" dirty="0" smtClean="0"/>
              <a:t>	Mají součástky, jejichž základní parametr (např. kapacita, indukčnost apod.) </a:t>
            </a:r>
            <a:r>
              <a:rPr lang="cs-CZ" b="1" dirty="0" smtClean="0">
                <a:solidFill>
                  <a:srgbClr val="FF0000"/>
                </a:solidFill>
              </a:rPr>
              <a:t>NEZÁVISÍ</a:t>
            </a:r>
            <a:r>
              <a:rPr lang="cs-CZ" dirty="0" smtClean="0"/>
              <a:t> na procházejícím U a I.</a:t>
            </a:r>
          </a:p>
          <a:p>
            <a:pPr>
              <a:buNone/>
            </a:pPr>
            <a:r>
              <a:rPr lang="cs-CZ" dirty="0" smtClean="0"/>
              <a:t>	Pro chování součástky platí Ohmův zákon.</a:t>
            </a:r>
            <a:endParaRPr lang="cs-CZ" dirty="0"/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644008" y="1196753"/>
            <a:ext cx="4038600" cy="2088232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cs-CZ" dirty="0"/>
              <a:t>	</a:t>
            </a:r>
            <a:r>
              <a:rPr lang="cs-CZ" b="1" dirty="0" smtClean="0"/>
              <a:t>2) NELINEÁRNÍ:</a:t>
            </a:r>
          </a:p>
          <a:p>
            <a:pPr>
              <a:buNone/>
            </a:pPr>
            <a:r>
              <a:rPr lang="cs-CZ" dirty="0"/>
              <a:t>	</a:t>
            </a:r>
            <a:r>
              <a:rPr lang="cs-CZ" dirty="0" smtClean="0"/>
              <a:t>Základní parametr součástky </a:t>
            </a:r>
            <a:r>
              <a:rPr lang="cs-CZ" b="1" dirty="0" smtClean="0">
                <a:solidFill>
                  <a:srgbClr val="FF0000"/>
                </a:solidFill>
              </a:rPr>
              <a:t>ZÁVISÍ </a:t>
            </a:r>
            <a:r>
              <a:rPr lang="cs-CZ" dirty="0" smtClean="0"/>
              <a:t>na procházejícím U a I (dioda, tranzistor, …).</a:t>
            </a:r>
            <a:endParaRPr lang="cs-CZ" dirty="0"/>
          </a:p>
        </p:txBody>
      </p:sp>
      <p:sp>
        <p:nvSpPr>
          <p:cNvPr id="18" name="Oblouk 17"/>
          <p:cNvSpPr/>
          <p:nvPr/>
        </p:nvSpPr>
        <p:spPr>
          <a:xfrm rot="5555635">
            <a:off x="3910624" y="3506313"/>
            <a:ext cx="2996079" cy="2450863"/>
          </a:xfrm>
          <a:prstGeom prst="arc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grpSp>
        <p:nvGrpSpPr>
          <p:cNvPr id="22" name="Skupina 21"/>
          <p:cNvGrpSpPr/>
          <p:nvPr/>
        </p:nvGrpSpPr>
        <p:grpSpPr>
          <a:xfrm>
            <a:off x="5292080" y="3645024"/>
            <a:ext cx="3240360" cy="3105636"/>
            <a:chOff x="5292080" y="3645024"/>
            <a:chExt cx="3240360" cy="3105636"/>
          </a:xfrm>
        </p:grpSpPr>
        <p:cxnSp>
          <p:nvCxnSpPr>
            <p:cNvPr id="8" name="Přímá spojovací šipka 7"/>
            <p:cNvCxnSpPr/>
            <p:nvPr/>
          </p:nvCxnSpPr>
          <p:spPr>
            <a:xfrm flipV="1">
              <a:off x="5292080" y="3861048"/>
              <a:ext cx="0" cy="237626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Přímá spojovací šipka 8"/>
            <p:cNvCxnSpPr/>
            <p:nvPr/>
          </p:nvCxnSpPr>
          <p:spPr>
            <a:xfrm>
              <a:off x="5292080" y="6237312"/>
              <a:ext cx="288032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ovéPole 18"/>
            <p:cNvSpPr txBox="1"/>
            <p:nvPr/>
          </p:nvSpPr>
          <p:spPr>
            <a:xfrm>
              <a:off x="5436096" y="3645024"/>
              <a:ext cx="8640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cs-CZ" dirty="0" smtClean="0"/>
                <a:t>I (A)</a:t>
              </a:r>
              <a:endParaRPr lang="cs-CZ" dirty="0"/>
            </a:p>
          </p:txBody>
        </p:sp>
        <p:sp>
          <p:nvSpPr>
            <p:cNvPr id="20" name="TextovéPole 19"/>
            <p:cNvSpPr txBox="1"/>
            <p:nvPr/>
          </p:nvSpPr>
          <p:spPr>
            <a:xfrm>
              <a:off x="7524328" y="6381328"/>
              <a:ext cx="100811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cs-CZ" dirty="0" smtClean="0"/>
                <a:t>U (V)</a:t>
              </a:r>
              <a:endParaRPr lang="cs-CZ" dirty="0"/>
            </a:p>
          </p:txBody>
        </p:sp>
      </p:grpSp>
      <p:grpSp>
        <p:nvGrpSpPr>
          <p:cNvPr id="33" name="Skupina 32"/>
          <p:cNvGrpSpPr/>
          <p:nvPr/>
        </p:nvGrpSpPr>
        <p:grpSpPr>
          <a:xfrm>
            <a:off x="395536" y="4077072"/>
            <a:ext cx="3960440" cy="2673588"/>
            <a:chOff x="395536" y="4077072"/>
            <a:chExt cx="3960440" cy="2673588"/>
          </a:xfrm>
        </p:grpSpPr>
        <p:grpSp>
          <p:nvGrpSpPr>
            <p:cNvPr id="21" name="Skupina 20"/>
            <p:cNvGrpSpPr/>
            <p:nvPr/>
          </p:nvGrpSpPr>
          <p:grpSpPr>
            <a:xfrm>
              <a:off x="395536" y="4077072"/>
              <a:ext cx="3960440" cy="2673588"/>
              <a:chOff x="395536" y="4077072"/>
              <a:chExt cx="3960440" cy="2673588"/>
            </a:xfrm>
          </p:grpSpPr>
          <p:cxnSp>
            <p:nvCxnSpPr>
              <p:cNvPr id="6" name="Přímá spojovací šipka 5"/>
              <p:cNvCxnSpPr/>
              <p:nvPr/>
            </p:nvCxnSpPr>
            <p:spPr>
              <a:xfrm flipV="1">
                <a:off x="1115616" y="4077072"/>
                <a:ext cx="0" cy="2304256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Přímá spojovací šipka 6"/>
              <p:cNvCxnSpPr/>
              <p:nvPr/>
            </p:nvCxnSpPr>
            <p:spPr>
              <a:xfrm>
                <a:off x="1124000" y="6389712"/>
                <a:ext cx="2880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Přímá spojovací čára 14"/>
              <p:cNvCxnSpPr/>
              <p:nvPr/>
            </p:nvCxnSpPr>
            <p:spPr>
              <a:xfrm flipV="1">
                <a:off x="1115616" y="4509120"/>
                <a:ext cx="2232248" cy="1872208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TextovéPole 15"/>
              <p:cNvSpPr txBox="1"/>
              <p:nvPr/>
            </p:nvSpPr>
            <p:spPr>
              <a:xfrm>
                <a:off x="3419872" y="6381328"/>
                <a:ext cx="93610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cs-CZ" dirty="0" smtClean="0"/>
                  <a:t>U (V</a:t>
                </a:r>
                <a:r>
                  <a:rPr lang="cs-CZ" i="1" dirty="0" smtClean="0"/>
                  <a:t>)</a:t>
                </a:r>
                <a:endParaRPr lang="cs-CZ" i="1" dirty="0"/>
              </a:p>
            </p:txBody>
          </p:sp>
          <p:sp>
            <p:nvSpPr>
              <p:cNvPr id="17" name="TextovéPole 16"/>
              <p:cNvSpPr txBox="1"/>
              <p:nvPr/>
            </p:nvSpPr>
            <p:spPr>
              <a:xfrm>
                <a:off x="395536" y="4149080"/>
                <a:ext cx="57606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cs-CZ" dirty="0" smtClean="0"/>
                  <a:t>I (A)</a:t>
                </a:r>
                <a:endParaRPr lang="cs-CZ" dirty="0"/>
              </a:p>
            </p:txBody>
          </p:sp>
        </p:grpSp>
        <p:cxnSp>
          <p:nvCxnSpPr>
            <p:cNvPr id="24" name="Přímá spojovací čára 23"/>
            <p:cNvCxnSpPr/>
            <p:nvPr/>
          </p:nvCxnSpPr>
          <p:spPr>
            <a:xfrm>
              <a:off x="1115616" y="5229200"/>
              <a:ext cx="28803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Přímá spojovací čára 24"/>
            <p:cNvCxnSpPr/>
            <p:nvPr/>
          </p:nvCxnSpPr>
          <p:spPr>
            <a:xfrm>
              <a:off x="1619672" y="5229200"/>
              <a:ext cx="28803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Přímá spojovací čára 25"/>
            <p:cNvCxnSpPr/>
            <p:nvPr/>
          </p:nvCxnSpPr>
          <p:spPr>
            <a:xfrm>
              <a:off x="2123728" y="5229200"/>
              <a:ext cx="28803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Přímá spojovací čára 27"/>
            <p:cNvCxnSpPr/>
            <p:nvPr/>
          </p:nvCxnSpPr>
          <p:spPr>
            <a:xfrm flipV="1">
              <a:off x="2411760" y="5229200"/>
              <a:ext cx="0" cy="36004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Přímá spojovací čára 29"/>
            <p:cNvCxnSpPr/>
            <p:nvPr/>
          </p:nvCxnSpPr>
          <p:spPr>
            <a:xfrm flipV="1">
              <a:off x="2411760" y="6021288"/>
              <a:ext cx="0" cy="36004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Přímá spojovací čára 30"/>
            <p:cNvCxnSpPr/>
            <p:nvPr/>
          </p:nvCxnSpPr>
          <p:spPr>
            <a:xfrm flipV="1">
              <a:off x="2411760" y="5661248"/>
              <a:ext cx="0" cy="21602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cs-CZ" sz="5400" b="1" dirty="0" smtClean="0"/>
              <a:t>PRACOVNÍ BOD SOUČÁSTKY</a:t>
            </a:r>
            <a:endParaRPr lang="cs-CZ" sz="5400" b="1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1972816"/>
          </a:xfrm>
        </p:spPr>
        <p:txBody>
          <a:bodyPr>
            <a:normAutofit lnSpcReduction="10000"/>
          </a:bodyPr>
          <a:lstStyle/>
          <a:p>
            <a:pPr lvl="1">
              <a:buNone/>
            </a:pPr>
            <a:r>
              <a:rPr lang="cs-CZ" b="1" dirty="0" smtClean="0"/>
              <a:t>Pracovní bod součástky</a:t>
            </a:r>
          </a:p>
          <a:p>
            <a:pPr lvl="1">
              <a:buNone/>
            </a:pPr>
            <a:r>
              <a:rPr lang="cs-CZ" b="1" dirty="0" smtClean="0"/>
              <a:t>vyjadřuje poměry, za</a:t>
            </a:r>
          </a:p>
          <a:p>
            <a:pPr lvl="1">
              <a:buNone/>
            </a:pPr>
            <a:r>
              <a:rPr lang="cs-CZ" b="1" dirty="0" smtClean="0"/>
              <a:t>kterých součástka v</a:t>
            </a:r>
          </a:p>
          <a:p>
            <a:pPr lvl="1">
              <a:buNone/>
            </a:pPr>
            <a:r>
              <a:rPr lang="cs-CZ" b="1" dirty="0" smtClean="0"/>
              <a:t>obvodu pracuje.</a:t>
            </a:r>
          </a:p>
          <a:p>
            <a:pPr lvl="1">
              <a:buNone/>
            </a:pPr>
            <a:endParaRPr lang="cs-CZ" b="1" dirty="0"/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2476871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cs-CZ" dirty="0" smtClean="0"/>
              <a:t>	</a:t>
            </a:r>
            <a:r>
              <a:rPr lang="cs-CZ" sz="2400" b="1" dirty="0" smtClean="0">
                <a:solidFill>
                  <a:srgbClr val="00B050"/>
                </a:solidFill>
              </a:rPr>
              <a:t>Srovnej s jízdou autem: </a:t>
            </a:r>
            <a:r>
              <a:rPr lang="cs-CZ" sz="2400" b="1" dirty="0" smtClean="0"/>
              <a:t>otáčkoměr ukazuje optimální otáčky motoru, aby motor měl co nejnižší spotřebu a potřebný výkon (např. ŠKODA FABIA 3000 otáček).</a:t>
            </a:r>
            <a:endParaRPr lang="cs-CZ" b="1" dirty="0"/>
          </a:p>
        </p:txBody>
      </p:sp>
      <p:pic>
        <p:nvPicPr>
          <p:cNvPr id="5" name="Picture 2" descr="C:\Users\Milan\Downloads\a 7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7584" y="3861048"/>
            <a:ext cx="3009900" cy="2314575"/>
          </a:xfrm>
          <a:prstGeom prst="rect">
            <a:avLst/>
          </a:prstGeom>
          <a:noFill/>
        </p:spPr>
      </p:pic>
      <p:pic>
        <p:nvPicPr>
          <p:cNvPr id="6146" name="Picture 2" descr="C:\Users\Milan\Downloads\A 11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76056" y="4365104"/>
            <a:ext cx="3131840" cy="234888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640960" cy="1143000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cs-CZ" b="1" dirty="0" smtClean="0">
                <a:solidFill>
                  <a:srgbClr val="FF0000"/>
                </a:solidFill>
              </a:rPr>
              <a:t>PRACOVNÍ BOD </a:t>
            </a:r>
            <a:r>
              <a:rPr lang="cs-CZ" b="1" dirty="0" smtClean="0"/>
              <a:t>SOUČÁSTKY: </a:t>
            </a:r>
            <a:br>
              <a:rPr lang="cs-CZ" b="1" dirty="0" smtClean="0"/>
            </a:br>
            <a:r>
              <a:rPr lang="cs-CZ" sz="3100" dirty="0" smtClean="0"/>
              <a:t>poměry, za kterých je součástka v obvodu provozována</a:t>
            </a:r>
            <a:endParaRPr lang="cs-CZ" sz="3600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179512" y="1600201"/>
            <a:ext cx="4316288" cy="2188840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cs-CZ" b="1" dirty="0" smtClean="0"/>
              <a:t>	1) </a:t>
            </a:r>
            <a:r>
              <a:rPr lang="cs-CZ" b="1" u="sng" dirty="0" smtClean="0"/>
              <a:t>KLIDOVÝ (STATICKÝ) PRACOVNÍ BOD:</a:t>
            </a:r>
          </a:p>
          <a:p>
            <a:pPr>
              <a:buNone/>
            </a:pPr>
            <a:r>
              <a:rPr lang="cs-CZ" dirty="0" smtClean="0"/>
              <a:t>	Přivádíme </a:t>
            </a:r>
            <a:r>
              <a:rPr lang="cs-CZ" b="1" dirty="0" smtClean="0"/>
              <a:t>stálé</a:t>
            </a:r>
            <a:r>
              <a:rPr lang="cs-CZ" dirty="0" smtClean="0"/>
              <a:t> hodnoty U a I.</a:t>
            </a:r>
            <a:endParaRPr lang="cs-CZ" dirty="0"/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316288" cy="2332855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cs-CZ" dirty="0" smtClean="0"/>
              <a:t>	</a:t>
            </a:r>
            <a:r>
              <a:rPr lang="cs-CZ" b="1" dirty="0" smtClean="0"/>
              <a:t>2) </a:t>
            </a:r>
            <a:r>
              <a:rPr lang="cs-CZ" b="1" u="sng" dirty="0" smtClean="0"/>
              <a:t>DYNAMICKÝ PRACOVNÍ BOD:</a:t>
            </a:r>
          </a:p>
          <a:p>
            <a:pPr>
              <a:buNone/>
            </a:pPr>
            <a:r>
              <a:rPr lang="cs-CZ" dirty="0"/>
              <a:t>	</a:t>
            </a:r>
            <a:r>
              <a:rPr lang="cs-CZ" dirty="0" smtClean="0"/>
              <a:t>Přivádíme časově proměnné veličiny (např. zesilujeme vstupní signál).</a:t>
            </a:r>
          </a:p>
          <a:p>
            <a:pPr>
              <a:buNone/>
            </a:pPr>
            <a:r>
              <a:rPr lang="cs-CZ" dirty="0" smtClean="0"/>
              <a:t>	Pracovní bod se pohybuje po V-A charakteristice.</a:t>
            </a:r>
            <a:endParaRPr lang="cs-CZ" dirty="0"/>
          </a:p>
        </p:txBody>
      </p:sp>
      <p:pic>
        <p:nvPicPr>
          <p:cNvPr id="3074" name="Picture 2" descr="C:\Users\Milan\Downloads\a 7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7584" y="3861048"/>
            <a:ext cx="3009900" cy="2314575"/>
          </a:xfrm>
          <a:prstGeom prst="rect">
            <a:avLst/>
          </a:prstGeom>
          <a:noFill/>
        </p:spPr>
      </p:pic>
      <p:pic>
        <p:nvPicPr>
          <p:cNvPr id="3075" name="Picture 3" descr="C:\Users\Milan\Downloads\a 8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292080" y="4077072"/>
            <a:ext cx="3142208" cy="2471539"/>
          </a:xfrm>
          <a:prstGeom prst="rect">
            <a:avLst/>
          </a:prstGeom>
          <a:noFill/>
        </p:spPr>
      </p:pic>
      <p:sp>
        <p:nvSpPr>
          <p:cNvPr id="7" name="TextovéPole 6"/>
          <p:cNvSpPr txBox="1"/>
          <p:nvPr/>
        </p:nvSpPr>
        <p:spPr>
          <a:xfrm>
            <a:off x="5436096" y="4437112"/>
            <a:ext cx="1656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 smtClean="0"/>
              <a:t>Zesílený výstup</a:t>
            </a:r>
            <a:endParaRPr lang="cs-CZ" dirty="0"/>
          </a:p>
        </p:txBody>
      </p:sp>
      <p:sp>
        <p:nvSpPr>
          <p:cNvPr id="8" name="TextovéPole 7"/>
          <p:cNvSpPr txBox="1"/>
          <p:nvPr/>
        </p:nvSpPr>
        <p:spPr>
          <a:xfrm>
            <a:off x="6876256" y="6381328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 smtClean="0"/>
              <a:t>Vstupní signál</a:t>
            </a:r>
            <a:endParaRPr lang="cs-CZ" dirty="0"/>
          </a:p>
        </p:txBody>
      </p:sp>
      <p:cxnSp>
        <p:nvCxnSpPr>
          <p:cNvPr id="12" name="Přímá spojovací čára 11"/>
          <p:cNvCxnSpPr/>
          <p:nvPr/>
        </p:nvCxnSpPr>
        <p:spPr>
          <a:xfrm>
            <a:off x="7524328" y="4725144"/>
            <a:ext cx="1152128" cy="50405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Přímá spojovací čára 13"/>
          <p:cNvCxnSpPr/>
          <p:nvPr/>
        </p:nvCxnSpPr>
        <p:spPr>
          <a:xfrm>
            <a:off x="6876256" y="5301208"/>
            <a:ext cx="1152128" cy="50405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ovéPole 14"/>
          <p:cNvSpPr txBox="1"/>
          <p:nvPr/>
        </p:nvSpPr>
        <p:spPr>
          <a:xfrm>
            <a:off x="7668344" y="4365104"/>
            <a:ext cx="1224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1200" b="1" dirty="0" smtClean="0">
                <a:solidFill>
                  <a:srgbClr val="FF0000"/>
                </a:solidFill>
              </a:rPr>
              <a:t>Hrozí poškození součástky</a:t>
            </a:r>
            <a:endParaRPr lang="cs-CZ" sz="1200" b="1" dirty="0">
              <a:solidFill>
                <a:srgbClr val="FF0000"/>
              </a:solidFill>
            </a:endParaRPr>
          </a:p>
        </p:txBody>
      </p:sp>
      <p:sp>
        <p:nvSpPr>
          <p:cNvPr id="16" name="TextovéPole 15"/>
          <p:cNvSpPr txBox="1"/>
          <p:nvPr/>
        </p:nvSpPr>
        <p:spPr>
          <a:xfrm>
            <a:off x="6588224" y="5589241"/>
            <a:ext cx="1008112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1100" b="1" dirty="0" smtClean="0">
                <a:solidFill>
                  <a:srgbClr val="FF0000"/>
                </a:solidFill>
              </a:rPr>
              <a:t>Hrozí nefunkčnost součástky</a:t>
            </a:r>
          </a:p>
          <a:p>
            <a:endParaRPr lang="cs-CZ" dirty="0"/>
          </a:p>
        </p:txBody>
      </p:sp>
      <p:cxnSp>
        <p:nvCxnSpPr>
          <p:cNvPr id="18" name="Přímá spojovací šipka 17"/>
          <p:cNvCxnSpPr/>
          <p:nvPr/>
        </p:nvCxnSpPr>
        <p:spPr>
          <a:xfrm flipV="1">
            <a:off x="7812360" y="5085184"/>
            <a:ext cx="504056" cy="576064"/>
          </a:xfrm>
          <a:prstGeom prst="straightConnector1">
            <a:avLst/>
          </a:prstGeom>
          <a:ln w="57150">
            <a:solidFill>
              <a:srgbClr val="00B05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ovéPole 19"/>
          <p:cNvSpPr txBox="1"/>
          <p:nvPr/>
        </p:nvSpPr>
        <p:spPr>
          <a:xfrm>
            <a:off x="8279904" y="5157192"/>
            <a:ext cx="8640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1200" b="1" dirty="0" smtClean="0">
                <a:solidFill>
                  <a:srgbClr val="00B050"/>
                </a:solidFill>
              </a:rPr>
              <a:t>Optimum pro </a:t>
            </a:r>
            <a:r>
              <a:rPr lang="cs-CZ" sz="1200" b="1" dirty="0" err="1" smtClean="0">
                <a:solidFill>
                  <a:srgbClr val="00B050"/>
                </a:solidFill>
              </a:rPr>
              <a:t>prac</a:t>
            </a:r>
            <a:r>
              <a:rPr lang="cs-CZ" sz="1200" b="1" dirty="0" smtClean="0">
                <a:solidFill>
                  <a:srgbClr val="00B050"/>
                </a:solidFill>
              </a:rPr>
              <a:t>. bod</a:t>
            </a:r>
            <a:endParaRPr lang="cs-CZ" sz="1200" b="1" dirty="0">
              <a:solidFill>
                <a:srgbClr val="00B05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cs-CZ" sz="6000" b="1" dirty="0" smtClean="0"/>
              <a:t>STEJNOSMĚRNÝ SIGNÁL</a:t>
            </a:r>
            <a:endParaRPr lang="cs-CZ" sz="6000" b="1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756792"/>
          </a:xfrm>
        </p:spPr>
        <p:txBody>
          <a:bodyPr/>
          <a:lstStyle/>
          <a:p>
            <a:r>
              <a:rPr lang="cs-CZ" b="1" dirty="0" smtClean="0">
                <a:solidFill>
                  <a:srgbClr val="FF0000"/>
                </a:solidFill>
              </a:rPr>
              <a:t>Stejnosměrný signál </a:t>
            </a:r>
            <a:r>
              <a:rPr lang="cs-CZ" dirty="0" smtClean="0"/>
              <a:t>je každý signál napětí, nebo proudu, který má </a:t>
            </a:r>
            <a:r>
              <a:rPr lang="cs-CZ" b="1" dirty="0" smtClean="0">
                <a:solidFill>
                  <a:srgbClr val="FF0000"/>
                </a:solidFill>
              </a:rPr>
              <a:t>TRVALE KLADNOU, nebo TRVALE ZÁPORNOU POLARITU.</a:t>
            </a:r>
            <a:endParaRPr lang="cs-CZ" b="1" dirty="0">
              <a:solidFill>
                <a:srgbClr val="FF0000"/>
              </a:solidFill>
            </a:endParaRPr>
          </a:p>
        </p:txBody>
      </p:sp>
      <p:pic>
        <p:nvPicPr>
          <p:cNvPr id="8194" name="Picture 2" descr="C:\Users\Milan\Downloads\A 1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3501008"/>
            <a:ext cx="3779912" cy="2167150"/>
          </a:xfrm>
          <a:prstGeom prst="rect">
            <a:avLst/>
          </a:prstGeom>
          <a:noFill/>
        </p:spPr>
      </p:pic>
      <p:pic>
        <p:nvPicPr>
          <p:cNvPr id="8195" name="Picture 3" descr="C:\Users\Milan\Downloads\A 2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60032" y="3501008"/>
            <a:ext cx="3428572" cy="2209524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cs-CZ" sz="6600" b="1" dirty="0" smtClean="0"/>
              <a:t>STŘÍDAVÝ SIGNÁL</a:t>
            </a:r>
            <a:endParaRPr lang="cs-CZ" sz="6600" b="1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57200" y="1600200"/>
            <a:ext cx="2962672" cy="5141168"/>
          </a:xfrm>
        </p:spPr>
        <p:txBody>
          <a:bodyPr>
            <a:normAutofit fontScale="92500" lnSpcReduction="20000"/>
          </a:bodyPr>
          <a:lstStyle/>
          <a:p>
            <a:r>
              <a:rPr lang="cs-CZ" dirty="0" smtClean="0"/>
              <a:t>Průběh proudu i napětí </a:t>
            </a:r>
            <a:r>
              <a:rPr lang="cs-CZ" b="1" dirty="0" smtClean="0">
                <a:solidFill>
                  <a:srgbClr val="FF0000"/>
                </a:solidFill>
              </a:rPr>
              <a:t>STŘÍDAVÉHO SIGNÁLU </a:t>
            </a:r>
            <a:r>
              <a:rPr lang="cs-CZ" dirty="0" smtClean="0"/>
              <a:t>je závislý na čase, </a:t>
            </a:r>
            <a:r>
              <a:rPr lang="cs-CZ" b="1" dirty="0" smtClean="0"/>
              <a:t>hodnoty střídavého proudu a napětí dosahují jak kladných, tak záporných hodnot.</a:t>
            </a:r>
            <a:endParaRPr lang="cs-CZ" b="1" dirty="0"/>
          </a:p>
        </p:txBody>
      </p:sp>
      <p:pic>
        <p:nvPicPr>
          <p:cNvPr id="9218" name="Picture 2" descr="C:\Users\Milan\Downloads\A 4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23928" y="1484784"/>
            <a:ext cx="4681728" cy="3511296"/>
          </a:xfrm>
          <a:prstGeom prst="rect">
            <a:avLst/>
          </a:prstGeom>
          <a:noFill/>
        </p:spPr>
      </p:pic>
      <p:pic>
        <p:nvPicPr>
          <p:cNvPr id="9219" name="Picture 3" descr="C:\Users\Milan\Downloads\A 3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88024" y="4869160"/>
            <a:ext cx="2461046" cy="1593527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79512" y="260648"/>
            <a:ext cx="8784976" cy="1143000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cs-CZ" sz="6000" b="1" dirty="0" smtClean="0"/>
              <a:t>VELIČINA IMPEDANCE: Z </a:t>
            </a:r>
            <a:r>
              <a:rPr lang="cs-CZ" sz="6000" b="1" dirty="0" smtClean="0">
                <a:latin typeface="Calibri"/>
              </a:rPr>
              <a:t>[</a:t>
            </a:r>
            <a:r>
              <a:rPr lang="el-GR" sz="6000" b="1" dirty="0" smtClean="0">
                <a:latin typeface="Calibri"/>
              </a:rPr>
              <a:t>Ω]</a:t>
            </a:r>
            <a:endParaRPr lang="cs-CZ" b="1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3196952"/>
          </a:xfrm>
        </p:spPr>
        <p:txBody>
          <a:bodyPr/>
          <a:lstStyle/>
          <a:p>
            <a:r>
              <a:rPr lang="cs-CZ" dirty="0" smtClean="0"/>
              <a:t>Impedance je fyzikální veličina vyjádřená komplexním číslem (reálná a imaginární složka) a popisuje </a:t>
            </a:r>
            <a:r>
              <a:rPr lang="cs-CZ" b="1" dirty="0" smtClean="0"/>
              <a:t>ZDÁNLIVÝ ODPOR SOUČÁSTKY a FÁZOVÝ POSUN NAPĚTÍ a PROUDU</a:t>
            </a:r>
            <a:r>
              <a:rPr lang="cs-CZ" dirty="0" smtClean="0"/>
              <a:t> při průchodu </a:t>
            </a:r>
            <a:r>
              <a:rPr lang="cs-CZ" dirty="0"/>
              <a:t>s</a:t>
            </a:r>
            <a:r>
              <a:rPr lang="cs-CZ" dirty="0" smtClean="0"/>
              <a:t>třídavého elektrického proudu dané frekvence.</a:t>
            </a:r>
          </a:p>
          <a:p>
            <a:pPr>
              <a:buNone/>
            </a:pPr>
            <a:endParaRPr lang="cs-CZ" dirty="0"/>
          </a:p>
        </p:txBody>
      </p:sp>
      <p:sp>
        <p:nvSpPr>
          <p:cNvPr id="4" name="TextovéPole 3"/>
          <p:cNvSpPr txBox="1"/>
          <p:nvPr/>
        </p:nvSpPr>
        <p:spPr>
          <a:xfrm>
            <a:off x="971600" y="4725144"/>
            <a:ext cx="2952328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cs-CZ" sz="3600" b="1" dirty="0" smtClean="0"/>
              <a:t>Z = R + j X </a:t>
            </a:r>
            <a:r>
              <a:rPr lang="cs-CZ" sz="3600" b="1" dirty="0"/>
              <a:t>[</a:t>
            </a:r>
            <a:r>
              <a:rPr lang="el-GR" sz="3600" b="1" dirty="0"/>
              <a:t>Ω]</a:t>
            </a:r>
            <a:r>
              <a:rPr lang="cs-CZ" sz="3600" b="1" dirty="0" smtClean="0"/>
              <a:t>   </a:t>
            </a:r>
            <a:endParaRPr lang="cs-CZ" sz="3600" b="1" dirty="0"/>
          </a:p>
        </p:txBody>
      </p:sp>
      <p:sp>
        <p:nvSpPr>
          <p:cNvPr id="6" name="TextovéPole 5"/>
          <p:cNvSpPr txBox="1"/>
          <p:nvPr/>
        </p:nvSpPr>
        <p:spPr>
          <a:xfrm>
            <a:off x="971600" y="5661248"/>
            <a:ext cx="4536504" cy="92333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cs-CZ" dirty="0" smtClean="0"/>
              <a:t>R: odpor v ohmech (reálná osa)</a:t>
            </a:r>
          </a:p>
          <a:p>
            <a:r>
              <a:rPr lang="cs-CZ" dirty="0"/>
              <a:t>j</a:t>
            </a:r>
            <a:r>
              <a:rPr lang="cs-CZ" dirty="0" smtClean="0"/>
              <a:t>: imaginární jednotka (v MAT označovaná „i“)</a:t>
            </a:r>
          </a:p>
          <a:p>
            <a:r>
              <a:rPr lang="cs-CZ" dirty="0" smtClean="0"/>
              <a:t>X: reaktance v ohmech (imaginární osa)</a:t>
            </a:r>
            <a:endParaRPr lang="cs-CZ" dirty="0"/>
          </a:p>
        </p:txBody>
      </p:sp>
      <p:pic>
        <p:nvPicPr>
          <p:cNvPr id="10242" name="Picture 2" descr="C:\Users\Milan\Downloads\a 5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84168" y="4509120"/>
            <a:ext cx="2304256" cy="192719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784976" cy="1143000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cs-CZ" b="1" dirty="0" smtClean="0"/>
              <a:t>DĚLENÍ SOUČÁSTEK DLE ZPŮSOBU MONTÁŽE NA DESKU PLOŠNÝCH SPOJŮ</a:t>
            </a:r>
            <a:endParaRPr lang="cs-CZ" b="1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1540768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cs-CZ" dirty="0" smtClean="0"/>
              <a:t>	</a:t>
            </a:r>
            <a:r>
              <a:rPr lang="cs-CZ" b="1" dirty="0" smtClean="0"/>
              <a:t>KLASICKÉ:</a:t>
            </a:r>
            <a:r>
              <a:rPr lang="cs-CZ" dirty="0" smtClean="0"/>
              <a:t> z jedné strany desky součástka, z druhé strany pájení</a:t>
            </a:r>
            <a:endParaRPr lang="cs-CZ" dirty="0"/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2404864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cs-CZ" dirty="0"/>
              <a:t>	</a:t>
            </a:r>
            <a:r>
              <a:rPr lang="cs-CZ" b="1" dirty="0" smtClean="0"/>
              <a:t>POVRCHOVÁ MONTÁŽ součástek SMD (</a:t>
            </a:r>
            <a:r>
              <a:rPr lang="cs-CZ" dirty="0" err="1" smtClean="0"/>
              <a:t>Surface</a:t>
            </a:r>
            <a:r>
              <a:rPr lang="cs-CZ" dirty="0" smtClean="0"/>
              <a:t> Mount Device): v praxi dnes u všech průmyslově vyráběných zařízení (různé součástky mohou být z obou stran desky).</a:t>
            </a:r>
            <a:endParaRPr lang="cs-CZ" dirty="0"/>
          </a:p>
        </p:txBody>
      </p:sp>
      <p:pic>
        <p:nvPicPr>
          <p:cNvPr id="7170" name="Picture 2" descr="C:\Users\Milan\Downloads\a 1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43608" y="3573016"/>
            <a:ext cx="2880320" cy="2721902"/>
          </a:xfrm>
          <a:prstGeom prst="rect">
            <a:avLst/>
          </a:prstGeom>
          <a:noFill/>
        </p:spPr>
      </p:pic>
      <p:pic>
        <p:nvPicPr>
          <p:cNvPr id="7171" name="Picture 3" descr="C:\Users\Milan\Downloads\a 13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0" y="4005064"/>
            <a:ext cx="4108467" cy="2736304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r>
              <a:rPr lang="cs-CZ" b="1" dirty="0" smtClean="0"/>
              <a:t>NAKOUKEJ VIDEA</a:t>
            </a:r>
            <a:endParaRPr lang="cs-CZ" b="1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179512" y="1600200"/>
            <a:ext cx="8712968" cy="4525963"/>
          </a:xfrm>
        </p:spPr>
        <p:txBody>
          <a:bodyPr>
            <a:normAutofit fontScale="92500"/>
          </a:bodyPr>
          <a:lstStyle/>
          <a:p>
            <a:r>
              <a:rPr lang="cs-CZ" b="1" dirty="0" smtClean="0"/>
              <a:t>PÁJENÍ: </a:t>
            </a:r>
            <a:r>
              <a:rPr lang="cs-CZ" dirty="0" smtClean="0">
                <a:hlinkClick r:id="rId2"/>
              </a:rPr>
              <a:t>https://www.youtube.com/watch?v=vujaGgBuKu8</a:t>
            </a:r>
            <a:endParaRPr lang="cs-CZ" dirty="0" smtClean="0"/>
          </a:p>
          <a:p>
            <a:r>
              <a:rPr lang="cs-CZ" b="1" dirty="0" smtClean="0">
                <a:solidFill>
                  <a:srgbClr val="00B050"/>
                </a:solidFill>
              </a:rPr>
              <a:t>SMT proces: technologie na průmyslové pájení SMD součástek</a:t>
            </a:r>
          </a:p>
          <a:p>
            <a:r>
              <a:rPr lang="cs-CZ" dirty="0" smtClean="0">
                <a:hlinkClick r:id="rId3"/>
              </a:rPr>
              <a:t>https://www.youtube.com/watch?v=BepAMlrJwXI</a:t>
            </a:r>
            <a:endParaRPr lang="cs-CZ" dirty="0" smtClean="0"/>
          </a:p>
          <a:p>
            <a:r>
              <a:rPr lang="cs-CZ" dirty="0" smtClean="0">
                <a:hlinkClick r:id="rId4"/>
              </a:rPr>
              <a:t>https://www.youtube.com/watch?v=HRvADApuyzA</a:t>
            </a:r>
            <a:endParaRPr lang="cs-CZ" dirty="0" smtClean="0"/>
          </a:p>
          <a:p>
            <a:r>
              <a:rPr lang="cs-CZ" dirty="0" smtClean="0">
                <a:hlinkClick r:id="rId5"/>
              </a:rPr>
              <a:t>https://www.youtube.com/watch?v=9uet6TNtUXI</a:t>
            </a:r>
            <a:endParaRPr lang="cs-CZ" dirty="0" smtClean="0"/>
          </a:p>
          <a:p>
            <a:pPr>
              <a:buNone/>
            </a:pPr>
            <a:endParaRPr lang="cs-CZ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otiv sady Office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5B10FE068C086449B2D03795B24EF5E" ma:contentTypeVersion="3" ma:contentTypeDescription="Vytvoří nový dokument" ma:contentTypeScope="" ma:versionID="bf594278b48c6af58afd007a5bcb2e39">
  <xsd:schema xmlns:xsd="http://www.w3.org/2001/XMLSchema" xmlns:xs="http://www.w3.org/2001/XMLSchema" xmlns:p="http://schemas.microsoft.com/office/2006/metadata/properties" xmlns:ns2="cb5c8d4f-930b-436c-b8c3-1af5e99ab6f6" targetNamespace="http://schemas.microsoft.com/office/2006/metadata/properties" ma:root="true" ma:fieldsID="fdefd24ee82718b2213c42b2775d7569" ns2:_="">
    <xsd:import namespace="cb5c8d4f-930b-436c-b8c3-1af5e99ab6f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b5c8d4f-930b-436c-b8c3-1af5e99ab6f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7117B8D-90FD-4939-AA1D-F9BB08D45EB7}"/>
</file>

<file path=customXml/itemProps2.xml><?xml version="1.0" encoding="utf-8"?>
<ds:datastoreItem xmlns:ds="http://schemas.openxmlformats.org/officeDocument/2006/customXml" ds:itemID="{E46C4D8C-1565-4502-B3C4-43DAED612CDE}"/>
</file>

<file path=customXml/itemProps3.xml><?xml version="1.0" encoding="utf-8"?>
<ds:datastoreItem xmlns:ds="http://schemas.openxmlformats.org/officeDocument/2006/customXml" ds:itemID="{FBCC283A-6678-4B31-930A-F3223F3887A9}"/>
</file>

<file path=docProps/app.xml><?xml version="1.0" encoding="utf-8"?>
<Properties xmlns="http://schemas.openxmlformats.org/officeDocument/2006/extended-properties" xmlns:vt="http://schemas.openxmlformats.org/officeDocument/2006/docPropsVTypes">
  <TotalTime>300</TotalTime>
  <Words>464</Words>
  <Application>Microsoft Office PowerPoint</Application>
  <PresentationFormat>Předvádění na obrazovce (4:3)</PresentationFormat>
  <Paragraphs>132</Paragraphs>
  <Slides>17</Slides>
  <Notes>0</Notes>
  <HiddenSlides>0</HiddenSlides>
  <MMClips>0</MMClips>
  <ScaleCrop>false</ScaleCrop>
  <HeadingPairs>
    <vt:vector size="4" baseType="variant">
      <vt:variant>
        <vt:lpstr>Motiv</vt:lpstr>
      </vt:variant>
      <vt:variant>
        <vt:i4>1</vt:i4>
      </vt:variant>
      <vt:variant>
        <vt:lpstr>Nadpisy snímků</vt:lpstr>
      </vt:variant>
      <vt:variant>
        <vt:i4>17</vt:i4>
      </vt:variant>
    </vt:vector>
  </HeadingPairs>
  <TitlesOfParts>
    <vt:vector size="18" baseType="lpstr">
      <vt:lpstr>Motiv sady Office</vt:lpstr>
      <vt:lpstr>Předmět TEF:  technická fyzika s obsahem ELEKTROTECHNIKA (ELEKTRONIKA)</vt:lpstr>
      <vt:lpstr>PROČ SE UČIT ELEKTROTECHNIKU?</vt:lpstr>
      <vt:lpstr>ZÁKLADNÍ VZTAH: OHMŮV ZÁKON</vt:lpstr>
      <vt:lpstr>ELEKTROTECHNIKA</vt:lpstr>
      <vt:lpstr>OBOR ELEKTROTECHNIKA</vt:lpstr>
      <vt:lpstr>ELEKTRONIKA - ÚROVEŇ</vt:lpstr>
      <vt:lpstr>STRUKTURA (CO OBSAHUJE CO)</vt:lpstr>
      <vt:lpstr>ELEKTRONICKÉ SOUČÁSTKY</vt:lpstr>
      <vt:lpstr>ELEKTRONICKÉ SOUČÁSTKY: DALŠÍ DĚLENÍ</vt:lpstr>
      <vt:lpstr>VOLTAMPÉROVÁ CHARAKTERISTIKA</vt:lpstr>
      <vt:lpstr>PRACOVNÍ BOD SOUČÁSTKY</vt:lpstr>
      <vt:lpstr>PRACOVNÍ BOD SOUČÁSTKY:  poměry, za kterých je součástka v obvodu provozována</vt:lpstr>
      <vt:lpstr>STEJNOSMĚRNÝ SIGNÁL</vt:lpstr>
      <vt:lpstr>STŘÍDAVÝ SIGNÁL</vt:lpstr>
      <vt:lpstr>VELIČINA IMPEDANCE: Z [Ω]</vt:lpstr>
      <vt:lpstr>DĚLENÍ SOUČÁSTEK DLE ZPŮSOBU MONTÁŽE NA DESKU PLOŠNÝCH SPOJŮ</vt:lpstr>
      <vt:lpstr>NAKOUKEJ VIDEA</vt:lpstr>
    </vt:vector>
  </TitlesOfParts>
  <Company>Hewlett-Packard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Předmět TEF:  technická fyzika s obsahem ELEKTROTECHNIKA (ELEKTRONIKA)</dc:title>
  <dc:creator>Milan</dc:creator>
  <cp:lastModifiedBy>Milan</cp:lastModifiedBy>
  <cp:revision>35</cp:revision>
  <cp:lastPrinted>2020-10-03T16:58:40Z</cp:lastPrinted>
  <dcterms:created xsi:type="dcterms:W3CDTF">2020-10-03T07:26:48Z</dcterms:created>
  <dcterms:modified xsi:type="dcterms:W3CDTF">2020-10-03T17:22:35Z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0x010100B5B10FE068C086449B2D03795B24EF5E</vt:lpwstr>
  </property>
</Properties>
</file>